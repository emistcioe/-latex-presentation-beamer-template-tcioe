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png" ContentType="image/png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Default Extension="jpg" ContentType="image/jpg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743324" y="1345777"/>
            <a:ext cx="3096260" cy="3317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96925" y="1345777"/>
            <a:ext cx="3436620" cy="276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84374" y="274461"/>
            <a:ext cx="648525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71" y="1122122"/>
            <a:ext cx="8220075" cy="3251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3131" y="4743200"/>
            <a:ext cx="609600" cy="2533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56125" y="4778067"/>
            <a:ext cx="230504" cy="1676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Relationship Id="rId3" Type="http://schemas.openxmlformats.org/officeDocument/2006/relationships/image" Target="../media/image6.jpg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doi.org/10.57760/sciencedb.19070" TargetMode="Externa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8021" y="26396"/>
            <a:ext cx="8401050" cy="18542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635">
              <a:lnSpc>
                <a:spcPct val="100000"/>
              </a:lnSpc>
              <a:spcBef>
                <a:spcPts val="100"/>
              </a:spcBef>
            </a:pPr>
            <a:r>
              <a:rPr dirty="0" sz="3000"/>
              <a:t>RANDOM</a:t>
            </a:r>
            <a:r>
              <a:rPr dirty="0" sz="3000" spc="-65"/>
              <a:t> </a:t>
            </a:r>
            <a:r>
              <a:rPr dirty="0" sz="3000"/>
              <a:t>FOREST</a:t>
            </a:r>
            <a:r>
              <a:rPr dirty="0" sz="3000" spc="-60"/>
              <a:t> </a:t>
            </a:r>
            <a:r>
              <a:rPr dirty="0" sz="3000"/>
              <a:t>BASED</a:t>
            </a:r>
            <a:r>
              <a:rPr dirty="0" sz="3000" spc="-60"/>
              <a:t> </a:t>
            </a:r>
            <a:r>
              <a:rPr dirty="0" sz="3000" spc="-10"/>
              <a:t>WEARABLE </a:t>
            </a:r>
            <a:r>
              <a:rPr dirty="0" sz="3000"/>
              <a:t>WRISTBAND</a:t>
            </a:r>
            <a:r>
              <a:rPr dirty="0" sz="3000" spc="-110"/>
              <a:t> </a:t>
            </a:r>
            <a:r>
              <a:rPr dirty="0" sz="3000"/>
              <a:t>FOR</a:t>
            </a:r>
            <a:r>
              <a:rPr dirty="0" sz="3000" spc="-65"/>
              <a:t> </a:t>
            </a:r>
            <a:r>
              <a:rPr dirty="0" sz="3000" spc="-10"/>
              <a:t>OVERNIGHT</a:t>
            </a:r>
            <a:r>
              <a:rPr dirty="0" sz="3000" spc="-70"/>
              <a:t> </a:t>
            </a:r>
            <a:r>
              <a:rPr dirty="0" sz="3000" spc="-25"/>
              <a:t>SLEEP</a:t>
            </a:r>
            <a:r>
              <a:rPr dirty="0" sz="3000" spc="-185"/>
              <a:t> </a:t>
            </a:r>
            <a:r>
              <a:rPr dirty="0" sz="3000" spc="-10"/>
              <a:t>APNEA </a:t>
            </a:r>
            <a:r>
              <a:rPr dirty="0" sz="3000" spc="-20"/>
              <a:t>MONITORING</a:t>
            </a:r>
            <a:r>
              <a:rPr dirty="0" sz="3000" spc="-60"/>
              <a:t> </a:t>
            </a:r>
            <a:r>
              <a:rPr dirty="0" sz="3000"/>
              <a:t>USING</a:t>
            </a:r>
            <a:r>
              <a:rPr dirty="0" sz="3000" spc="-55"/>
              <a:t> </a:t>
            </a:r>
            <a:r>
              <a:rPr dirty="0" sz="3000"/>
              <a:t>PPG</a:t>
            </a:r>
            <a:r>
              <a:rPr dirty="0" sz="3000" spc="-165"/>
              <a:t> </a:t>
            </a:r>
            <a:r>
              <a:rPr dirty="0" sz="3000"/>
              <a:t>AND</a:t>
            </a:r>
            <a:r>
              <a:rPr dirty="0" sz="3000" spc="-55"/>
              <a:t> </a:t>
            </a:r>
            <a:r>
              <a:rPr dirty="0" sz="3000" spc="-10"/>
              <a:t>MOTION SENSING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431550" y="2056099"/>
            <a:ext cx="3544570" cy="1602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42950">
              <a:lnSpc>
                <a:spcPct val="100000"/>
              </a:lnSpc>
              <a:spcBef>
                <a:spcPts val="100"/>
              </a:spcBef>
            </a:pPr>
            <a:r>
              <a:rPr dirty="0" sz="2000" spc="-20" b="1">
                <a:latin typeface="Arial"/>
                <a:cs typeface="Arial"/>
              </a:rPr>
              <a:t>Team</a:t>
            </a:r>
            <a:r>
              <a:rPr dirty="0" sz="2000" spc="-110" b="1">
                <a:latin typeface="Arial"/>
                <a:cs typeface="Arial"/>
              </a:rPr>
              <a:t> </a:t>
            </a:r>
            <a:r>
              <a:rPr dirty="0" sz="2000" spc="-10" b="1">
                <a:latin typeface="Arial"/>
                <a:cs typeface="Arial"/>
              </a:rPr>
              <a:t>Members:</a:t>
            </a:r>
            <a:endParaRPr sz="20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375"/>
              </a:spcBef>
            </a:pPr>
            <a:r>
              <a:rPr dirty="0" sz="1800">
                <a:latin typeface="Arial MT"/>
                <a:cs typeface="Arial MT"/>
              </a:rPr>
              <a:t>Prabal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Koirala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(THA079BEI019) </a:t>
            </a:r>
            <a:r>
              <a:rPr dirty="0" sz="1800">
                <a:latin typeface="Arial MT"/>
                <a:cs typeface="Arial MT"/>
              </a:rPr>
              <a:t>Prasan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Gautam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(THA079BEI022) </a:t>
            </a:r>
            <a:r>
              <a:rPr dirty="0" sz="1800">
                <a:latin typeface="Arial MT"/>
                <a:cs typeface="Arial MT"/>
              </a:rPr>
              <a:t>Prashant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Bhusal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(THA079BEI024) </a:t>
            </a:r>
            <a:r>
              <a:rPr dirty="0" sz="1800">
                <a:latin typeface="Arial MT"/>
                <a:cs typeface="Arial MT"/>
              </a:rPr>
              <a:t>Pratik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Khatiwada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(THA079BEI025)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21449" y="1971252"/>
            <a:ext cx="2286635" cy="929005"/>
          </a:xfrm>
          <a:prstGeom prst="rect">
            <a:avLst/>
          </a:prstGeom>
        </p:spPr>
        <p:txBody>
          <a:bodyPr wrap="square" lIns="0" tIns="182880" rIns="0" bIns="0" rtlCol="0" vert="horz">
            <a:spAutoFit/>
          </a:bodyPr>
          <a:lstStyle/>
          <a:p>
            <a:pPr marL="364490">
              <a:lnSpc>
                <a:spcPct val="100000"/>
              </a:lnSpc>
              <a:spcBef>
                <a:spcPts val="1440"/>
              </a:spcBef>
            </a:pPr>
            <a:r>
              <a:rPr dirty="0" sz="2000" spc="-10" b="1">
                <a:latin typeface="Arial"/>
                <a:cs typeface="Arial"/>
              </a:rPr>
              <a:t>Supervised</a:t>
            </a:r>
            <a:r>
              <a:rPr dirty="0" sz="2000" spc="-60" b="1">
                <a:latin typeface="Arial"/>
                <a:cs typeface="Arial"/>
              </a:rPr>
              <a:t> </a:t>
            </a:r>
            <a:r>
              <a:rPr dirty="0" sz="2000" spc="-25" b="1">
                <a:latin typeface="Arial"/>
                <a:cs typeface="Arial"/>
              </a:rPr>
              <a:t>By: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dirty="0" sz="1800">
                <a:latin typeface="Arial MT"/>
                <a:cs typeface="Arial MT"/>
              </a:rPr>
              <a:t>Er.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Pradip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Prasad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Sah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30673" y="3818965"/>
            <a:ext cx="6050280" cy="1043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8165" marR="5080" indent="-5461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Arial MT"/>
                <a:cs typeface="Arial MT"/>
              </a:rPr>
              <a:t>Department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Electronics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Computer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Engineering </a:t>
            </a:r>
            <a:r>
              <a:rPr dirty="0" sz="2000">
                <a:latin typeface="Arial MT"/>
                <a:cs typeface="Arial MT"/>
              </a:rPr>
              <a:t>Institute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Engineering,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Thapathali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Campus</a:t>
            </a:r>
            <a:endParaRPr sz="2000">
              <a:latin typeface="Arial MT"/>
              <a:cs typeface="Arial MT"/>
            </a:endParaRPr>
          </a:p>
          <a:p>
            <a:pPr marL="1849755">
              <a:lnSpc>
                <a:spcPct val="100000"/>
              </a:lnSpc>
              <a:spcBef>
                <a:spcPts val="820"/>
              </a:spcBef>
            </a:pPr>
            <a:r>
              <a:rPr dirty="0" sz="2000">
                <a:latin typeface="Arial MT"/>
                <a:cs typeface="Arial MT"/>
              </a:rPr>
              <a:t>March</a:t>
            </a:r>
            <a:r>
              <a:rPr dirty="0" sz="2000" spc="-2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2026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52129" y="4778067"/>
            <a:ext cx="96520" cy="16764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00" spc="-50">
                <a:solidFill>
                  <a:srgbClr val="595959"/>
                </a:solidFill>
                <a:latin typeface="Arial MT"/>
                <a:cs typeface="Arial MT"/>
              </a:rPr>
              <a:t>2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323752" y="499762"/>
            <a:ext cx="449135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Presentation</a:t>
            </a:r>
            <a:r>
              <a:rPr dirty="0" sz="3600" spc="-65"/>
              <a:t> </a:t>
            </a:r>
            <a:r>
              <a:rPr dirty="0" sz="3600" spc="-10"/>
              <a:t>Outline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540"/>
              </a:spcBef>
              <a:buChar char="●"/>
              <a:tabLst>
                <a:tab pos="424815" algn="l"/>
              </a:tabLst>
            </a:pPr>
            <a:r>
              <a:rPr dirty="0" spc="-10"/>
              <a:t>Motivation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Introduction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Objectives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20"/>
              <a:t>Project</a:t>
            </a:r>
            <a:r>
              <a:rPr dirty="0" spc="-105"/>
              <a:t> </a:t>
            </a:r>
            <a:r>
              <a:rPr dirty="0" spc="-10"/>
              <a:t>Applications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/>
              <a:t>Scope</a:t>
            </a:r>
            <a:r>
              <a:rPr dirty="0" spc="-55"/>
              <a:t> </a:t>
            </a:r>
            <a:r>
              <a:rPr dirty="0"/>
              <a:t>Of</a:t>
            </a:r>
            <a:r>
              <a:rPr dirty="0" spc="-50"/>
              <a:t> </a:t>
            </a:r>
            <a:r>
              <a:rPr dirty="0" spc="-10"/>
              <a:t>Project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Methodology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idx="3" sz="half"/>
          </p:nvPr>
        </p:nvSpPr>
        <p:spPr>
          <a:prstGeom prst="rect"/>
        </p:spPr>
        <p:txBody>
          <a:bodyPr wrap="square" lIns="0" tIns="19558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540"/>
              </a:spcBef>
              <a:buChar char="●"/>
              <a:tabLst>
                <a:tab pos="424815" algn="l"/>
              </a:tabLst>
            </a:pPr>
            <a:r>
              <a:rPr dirty="0" spc="-10"/>
              <a:t>Result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Analysis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/>
              <a:t>Future</a:t>
            </a:r>
            <a:r>
              <a:rPr dirty="0" spc="-100"/>
              <a:t> </a:t>
            </a:r>
            <a:r>
              <a:rPr dirty="0" spc="-10"/>
              <a:t>Enhancements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Conclusion</a:t>
            </a: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pc="-1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1586" y="262687"/>
            <a:ext cx="23075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Motivation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38042" y="849565"/>
            <a:ext cx="7957184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marR="377190" indent="-382270">
              <a:lnSpc>
                <a:spcPct val="150000"/>
              </a:lnSpc>
              <a:spcBef>
                <a:spcPts val="100"/>
              </a:spcBef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Growing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demand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exists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affordable,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accessible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tools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enabling </a:t>
            </a:r>
            <a:r>
              <a:rPr dirty="0" sz="2000">
                <a:latin typeface="Arial MT"/>
                <a:cs typeface="Arial MT"/>
              </a:rPr>
              <a:t>regular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screening</a:t>
            </a:r>
            <a:endParaRPr sz="2000">
              <a:latin typeface="Arial MT"/>
              <a:cs typeface="Arial MT"/>
            </a:endParaRPr>
          </a:p>
          <a:p>
            <a:pPr marL="394335" marR="508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Clinical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studies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accuracy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but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remain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costly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while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wearables </a:t>
            </a:r>
            <a:r>
              <a:rPr dirty="0" sz="2000">
                <a:latin typeface="Arial MT"/>
                <a:cs typeface="Arial MT"/>
              </a:rPr>
              <a:t>lack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reliability</a:t>
            </a:r>
            <a:endParaRPr sz="2000">
              <a:latin typeface="Arial MT"/>
              <a:cs typeface="Arial MT"/>
            </a:endParaRPr>
          </a:p>
          <a:p>
            <a:pPr marL="394335" marR="45847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Reliable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overnight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collection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requires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local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storage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without </a:t>
            </a:r>
            <a:r>
              <a:rPr dirty="0" sz="2000">
                <a:latin typeface="Arial MT"/>
                <a:cs typeface="Arial MT"/>
              </a:rPr>
              <a:t>continuous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internet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access</a:t>
            </a:r>
            <a:endParaRPr sz="2000">
              <a:latin typeface="Arial MT"/>
              <a:cs typeface="Arial MT"/>
            </a:endParaRPr>
          </a:p>
          <a:p>
            <a:pPr marL="394335" marR="624205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Automated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analysis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8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enables</a:t>
            </a:r>
            <a:r>
              <a:rPr dirty="0" sz="2000" spc="-8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objective </a:t>
            </a:r>
            <a:r>
              <a:rPr dirty="0" sz="2000">
                <a:latin typeface="Arial MT"/>
                <a:cs typeface="Arial MT"/>
              </a:rPr>
              <a:t>detection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events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031272" y="262687"/>
            <a:ext cx="26873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Introduction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338042" y="925003"/>
            <a:ext cx="8141970" cy="3773170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394335" marR="854710" indent="-382270">
              <a:lnSpc>
                <a:spcPct val="131400"/>
              </a:lnSpc>
              <a:spcBef>
                <a:spcPts val="155"/>
              </a:spcBef>
              <a:buSzPct val="108108"/>
              <a:buChar char="●"/>
              <a:tabLst>
                <a:tab pos="394335" algn="l"/>
              </a:tabLst>
            </a:pPr>
            <a:r>
              <a:rPr dirty="0" sz="1850">
                <a:latin typeface="Arial MT"/>
                <a:cs typeface="Arial MT"/>
              </a:rPr>
              <a:t>Sleep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apnea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is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rapidly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growing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global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burden,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driven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by</a:t>
            </a:r>
            <a:r>
              <a:rPr dirty="0" sz="1850" spc="-20">
                <a:latin typeface="Arial MT"/>
                <a:cs typeface="Arial MT"/>
              </a:rPr>
              <a:t> aging </a:t>
            </a:r>
            <a:r>
              <a:rPr dirty="0" sz="1850">
                <a:latin typeface="Arial MT"/>
                <a:cs typeface="Arial MT"/>
              </a:rPr>
              <a:t>populations,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obesity,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sedentary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lifestyles,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yet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remains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critically </a:t>
            </a:r>
            <a:r>
              <a:rPr dirty="0" sz="1850">
                <a:latin typeface="Arial MT"/>
                <a:cs typeface="Arial MT"/>
              </a:rPr>
              <a:t>underdiagnosed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due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cost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inaccessibility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of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clinical polysomnography</a:t>
            </a:r>
            <a:endParaRPr sz="1850">
              <a:latin typeface="Arial MT"/>
              <a:cs typeface="Arial MT"/>
            </a:endParaRPr>
          </a:p>
          <a:p>
            <a:pPr marL="394335" marR="5080" indent="-382270">
              <a:lnSpc>
                <a:spcPct val="132000"/>
              </a:lnSpc>
              <a:spcBef>
                <a:spcPts val="100"/>
              </a:spcBef>
              <a:buSzPct val="108108"/>
              <a:buChar char="●"/>
              <a:tabLst>
                <a:tab pos="394335" algn="l"/>
              </a:tabLst>
            </a:pPr>
            <a:r>
              <a:rPr dirty="0" sz="1850">
                <a:latin typeface="Arial MT"/>
                <a:cs typeface="Arial MT"/>
              </a:rPr>
              <a:t>Advances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in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wearable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PPG/IMU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sensors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machine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learning</a:t>
            </a:r>
            <a:r>
              <a:rPr dirty="0" sz="1850" spc="-20">
                <a:latin typeface="Arial MT"/>
                <a:cs typeface="Arial MT"/>
              </a:rPr>
              <a:t> have </a:t>
            </a:r>
            <a:r>
              <a:rPr dirty="0" sz="1850">
                <a:latin typeface="Arial MT"/>
                <a:cs typeface="Arial MT"/>
              </a:rPr>
              <a:t>improved</a:t>
            </a:r>
            <a:r>
              <a:rPr dirty="0" sz="1850" spc="-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physiological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signal</a:t>
            </a:r>
            <a:r>
              <a:rPr dirty="0" sz="1850" spc="-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analysis,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yet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affordable</a:t>
            </a:r>
            <a:r>
              <a:rPr dirty="0" sz="1850" spc="-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clinically</a:t>
            </a:r>
            <a:r>
              <a:rPr dirty="0" sz="1850" spc="-3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reliable home-</a:t>
            </a:r>
            <a:r>
              <a:rPr dirty="0" sz="1850">
                <a:latin typeface="Arial MT"/>
                <a:cs typeface="Arial MT"/>
              </a:rPr>
              <a:t>based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apnea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detection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remains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unachieved</a:t>
            </a:r>
            <a:endParaRPr sz="1850">
              <a:latin typeface="Arial MT"/>
              <a:cs typeface="Arial MT"/>
            </a:endParaRPr>
          </a:p>
          <a:p>
            <a:pPr algn="just" marL="391160" marR="178435" indent="-379095">
              <a:lnSpc>
                <a:spcPct val="132000"/>
              </a:lnSpc>
              <a:spcBef>
                <a:spcPts val="100"/>
              </a:spcBef>
              <a:buSzPct val="108108"/>
              <a:buChar char="●"/>
              <a:tabLst>
                <a:tab pos="394335" algn="l"/>
              </a:tabLst>
            </a:pPr>
            <a:r>
              <a:rPr dirty="0" sz="1850">
                <a:latin typeface="Arial MT"/>
                <a:cs typeface="Arial MT"/>
              </a:rPr>
              <a:t>This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project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develops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wrist-</a:t>
            </a:r>
            <a:r>
              <a:rPr dirty="0" sz="1850">
                <a:latin typeface="Arial MT"/>
                <a:cs typeface="Arial MT"/>
              </a:rPr>
              <a:t>worn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PPG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IMU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system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with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embedded </a:t>
            </a:r>
            <a:r>
              <a:rPr dirty="0" sz="1850" spc="-10">
                <a:latin typeface="Arial MT"/>
                <a:cs typeface="Arial MT"/>
              </a:rPr>
              <a:t>	</a:t>
            </a:r>
            <a:r>
              <a:rPr dirty="0" sz="1850">
                <a:latin typeface="Arial MT"/>
                <a:cs typeface="Arial MT"/>
              </a:rPr>
              <a:t>ML</a:t>
            </a:r>
            <a:r>
              <a:rPr dirty="0" sz="1850" spc="-10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detect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apnea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events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overnight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generate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daily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web</a:t>
            </a:r>
            <a:r>
              <a:rPr dirty="0" sz="1850" spc="-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reports</a:t>
            </a:r>
            <a:r>
              <a:rPr dirty="0" sz="1850" spc="-15">
                <a:latin typeface="Arial MT"/>
                <a:cs typeface="Arial MT"/>
              </a:rPr>
              <a:t> </a:t>
            </a:r>
            <a:r>
              <a:rPr dirty="0" sz="1850" spc="-20">
                <a:latin typeface="Arial MT"/>
                <a:cs typeface="Arial MT"/>
              </a:rPr>
              <a:t>with </a:t>
            </a:r>
            <a:r>
              <a:rPr dirty="0" sz="1850" spc="-20">
                <a:latin typeface="Arial MT"/>
                <a:cs typeface="Arial MT"/>
              </a:rPr>
              <a:t>	</a:t>
            </a:r>
            <a:r>
              <a:rPr dirty="0" sz="1850">
                <a:latin typeface="Arial MT"/>
                <a:cs typeface="Arial MT"/>
              </a:rPr>
              <a:t>AHI</a:t>
            </a:r>
            <a:r>
              <a:rPr dirty="0" sz="1850" spc="-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severity</a:t>
            </a:r>
            <a:r>
              <a:rPr dirty="0" sz="1850" spc="-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indices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575" rIns="0" bIns="0" rtlCol="0" vert="horz">
            <a:spAutoFit/>
          </a:bodyPr>
          <a:lstStyle/>
          <a:p>
            <a:pPr marL="203073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Objectives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59967" y="1505412"/>
            <a:ext cx="8068945" cy="198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marR="5080" indent="-382270">
              <a:lnSpc>
                <a:spcPct val="150000"/>
              </a:lnSpc>
              <a:spcBef>
                <a:spcPts val="100"/>
              </a:spcBef>
              <a:buChar char="●"/>
              <a:tabLst>
                <a:tab pos="394335" algn="l"/>
              </a:tabLst>
            </a:pPr>
            <a:r>
              <a:rPr dirty="0" sz="2000" spc="-12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collect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analyze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PPG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during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wristband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daily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report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detecting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apnea</a:t>
            </a:r>
            <a:endParaRPr sz="2000">
              <a:latin typeface="Arial MT"/>
              <a:cs typeface="Arial MT"/>
            </a:endParaRPr>
          </a:p>
          <a:p>
            <a:pPr marL="394335" marR="27305" indent="-382270">
              <a:lnSpc>
                <a:spcPct val="150000"/>
              </a:lnSpc>
              <a:spcBef>
                <a:spcPts val="1000"/>
              </a:spcBef>
              <a:buChar char="●"/>
              <a:tabLst>
                <a:tab pos="394335" algn="l"/>
                <a:tab pos="460375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spc="-120">
                <a:latin typeface="Arial MT"/>
                <a:cs typeface="Arial MT"/>
              </a:rPr>
              <a:t>To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provide</a:t>
            </a:r>
            <a:r>
              <a:rPr dirty="0" sz="2000" spc="-12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affordable,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5">
                <a:latin typeface="Arial MT"/>
                <a:cs typeface="Arial MT"/>
              </a:rPr>
              <a:t>non-</a:t>
            </a:r>
            <a:r>
              <a:rPr dirty="0" sz="2000">
                <a:latin typeface="Arial MT"/>
                <a:cs typeface="Arial MT"/>
              </a:rPr>
              <a:t>invasive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solution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continuous</a:t>
            </a:r>
            <a:r>
              <a:rPr dirty="0" sz="2000" spc="-7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sleep </a:t>
            </a:r>
            <a:r>
              <a:rPr dirty="0" sz="2000">
                <a:latin typeface="Arial MT"/>
                <a:cs typeface="Arial MT"/>
              </a:rPr>
              <a:t>monitoring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early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medical</a:t>
            </a:r>
            <a:r>
              <a:rPr dirty="0" sz="2000" spc="-6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intervention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4988" rIns="0" bIns="0" rtlCol="0" vert="horz">
            <a:spAutoFit/>
          </a:bodyPr>
          <a:lstStyle/>
          <a:p>
            <a:pPr marL="1335405">
              <a:lnSpc>
                <a:spcPct val="100000"/>
              </a:lnSpc>
              <a:spcBef>
                <a:spcPts val="120"/>
              </a:spcBef>
            </a:pPr>
            <a:r>
              <a:rPr dirty="0" sz="3600"/>
              <a:t>Scope</a:t>
            </a:r>
            <a:r>
              <a:rPr dirty="0" sz="3600" spc="-10"/>
              <a:t> </a:t>
            </a:r>
            <a:r>
              <a:rPr dirty="0" sz="3600"/>
              <a:t>Of</a:t>
            </a:r>
            <a:r>
              <a:rPr dirty="0" sz="3600" spc="-10"/>
              <a:t> Project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80542" y="1404589"/>
            <a:ext cx="7806690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marR="5080" indent="-382270">
              <a:lnSpc>
                <a:spcPct val="150000"/>
              </a:lnSpc>
              <a:spcBef>
                <a:spcPts val="100"/>
              </a:spcBef>
              <a:buClr>
                <a:srgbClr val="595959"/>
              </a:buClr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Continuous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overnight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monitoring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heart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rate,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blood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oxygen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 spc="-20">
                <a:solidFill>
                  <a:srgbClr val="0A0A0A"/>
                </a:solidFill>
                <a:latin typeface="Arial MT"/>
                <a:cs typeface="Arial MT"/>
              </a:rPr>
              <a:t>SpO</a:t>
            </a:r>
            <a:r>
              <a:rPr dirty="0" sz="2000" spc="-20">
                <a:solidFill>
                  <a:srgbClr val="0A0A0A"/>
                </a:solidFill>
                <a:latin typeface="MS PGothic"/>
                <a:cs typeface="MS PGothic"/>
              </a:rPr>
              <a:t>₂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wrist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motion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PPG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IMU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sensors</a:t>
            </a:r>
            <a:endParaRPr sz="2000">
              <a:latin typeface="Arial MT"/>
              <a:cs typeface="Arial MT"/>
            </a:endParaRPr>
          </a:p>
          <a:p>
            <a:pPr marL="394335" marR="939800" indent="-382270">
              <a:lnSpc>
                <a:spcPct val="150000"/>
              </a:lnSpc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Learning-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classification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events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to </a:t>
            </a:r>
            <a:r>
              <a:rPr dirty="0" sz="2000">
                <a:latin typeface="Arial MT"/>
                <a:cs typeface="Arial MT"/>
              </a:rPr>
              <a:t>generate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daily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summaries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severity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indices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(AHI)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7500" rIns="0" bIns="0" rtlCol="0" vert="horz">
            <a:spAutoFit/>
          </a:bodyPr>
          <a:lstStyle/>
          <a:p>
            <a:pPr marL="88138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Project</a:t>
            </a:r>
            <a:r>
              <a:rPr dirty="0" sz="3600" spc="-140"/>
              <a:t> </a:t>
            </a:r>
            <a:r>
              <a:rPr dirty="0" sz="3600" spc="-10"/>
              <a:t>Applications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56599" y="1564337"/>
            <a:ext cx="7932420" cy="198564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6715" indent="-374015">
              <a:lnSpc>
                <a:spcPct val="100000"/>
              </a:lnSpc>
              <a:spcBef>
                <a:spcPts val="135"/>
              </a:spcBef>
              <a:buChar char="●"/>
              <a:tabLst>
                <a:tab pos="386715" algn="l"/>
              </a:tabLst>
            </a:pPr>
            <a:r>
              <a:rPr dirty="0" sz="2000">
                <a:latin typeface="Arial MT"/>
                <a:cs typeface="Arial MT"/>
              </a:rPr>
              <a:t>Early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Detection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Apnea</a:t>
            </a:r>
            <a:endParaRPr sz="2000">
              <a:latin typeface="Arial MT"/>
              <a:cs typeface="Arial MT"/>
            </a:endParaRPr>
          </a:p>
          <a:p>
            <a:pPr marL="386715" indent="-374015">
              <a:lnSpc>
                <a:spcPct val="100000"/>
              </a:lnSpc>
              <a:spcBef>
                <a:spcPts val="2260"/>
              </a:spcBef>
              <a:buChar char="●"/>
              <a:tabLst>
                <a:tab pos="386715" algn="l"/>
              </a:tabLst>
            </a:pPr>
            <a:r>
              <a:rPr dirty="0" sz="2000">
                <a:latin typeface="Arial MT"/>
                <a:cs typeface="Arial MT"/>
              </a:rPr>
              <a:t>Home-Based</a:t>
            </a:r>
            <a:r>
              <a:rPr dirty="0" sz="2000" spc="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Monitoring</a:t>
            </a:r>
            <a:endParaRPr sz="2000">
              <a:latin typeface="Arial MT"/>
              <a:cs typeface="Arial MT"/>
            </a:endParaRPr>
          </a:p>
          <a:p>
            <a:pPr marL="386715" marR="5080" indent="-374650">
              <a:lnSpc>
                <a:spcPct val="152600"/>
              </a:lnSpc>
              <a:spcBef>
                <a:spcPts val="1000"/>
              </a:spcBef>
              <a:buChar char="●"/>
              <a:tabLst>
                <a:tab pos="386715" algn="l"/>
              </a:tabLst>
            </a:pPr>
            <a:r>
              <a:rPr dirty="0" sz="2000">
                <a:latin typeface="Arial MT"/>
                <a:cs typeface="Arial MT"/>
              </a:rPr>
              <a:t>Provides</a:t>
            </a:r>
            <a:r>
              <a:rPr dirty="0" sz="2000" spc="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affordable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alternative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traditional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labs,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making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screening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accessible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larger</a:t>
            </a:r>
            <a:r>
              <a:rPr dirty="0" sz="2000" spc="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population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820" y="638563"/>
            <a:ext cx="1633855" cy="383349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4079"/>
              </a:lnSpc>
            </a:pPr>
            <a:r>
              <a:rPr dirty="0" sz="3600" spc="-10" b="1">
                <a:latin typeface="Arial"/>
                <a:cs typeface="Arial"/>
              </a:rPr>
              <a:t>Methodology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-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spc="-25" b="1">
                <a:latin typeface="Arial"/>
                <a:cs typeface="Arial"/>
              </a:rPr>
              <a:t>[1]</a:t>
            </a:r>
            <a:endParaRPr sz="3600">
              <a:latin typeface="Arial"/>
              <a:cs typeface="Arial"/>
            </a:endParaRPr>
          </a:p>
          <a:p>
            <a:pPr algn="ctr" marL="341630" marR="334010">
              <a:lnSpc>
                <a:spcPct val="100000"/>
              </a:lnSpc>
            </a:pPr>
            <a:r>
              <a:rPr dirty="0" sz="3600" b="1">
                <a:latin typeface="Arial"/>
                <a:cs typeface="Arial"/>
              </a:rPr>
              <a:t>(System</a:t>
            </a:r>
            <a:r>
              <a:rPr dirty="0" sz="3600" spc="-45" b="1">
                <a:latin typeface="Arial"/>
                <a:cs typeface="Arial"/>
              </a:rPr>
              <a:t> </a:t>
            </a:r>
            <a:r>
              <a:rPr dirty="0" sz="3600" spc="-20" b="1">
                <a:latin typeface="Arial"/>
                <a:cs typeface="Arial"/>
              </a:rPr>
              <a:t>Block </a:t>
            </a:r>
            <a:r>
              <a:rPr dirty="0" sz="3600" spc="-10" b="1">
                <a:latin typeface="Arial"/>
                <a:cs typeface="Arial"/>
              </a:rPr>
              <a:t>Diagram)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1018" y="457201"/>
            <a:ext cx="6327196" cy="40730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467855" y="450212"/>
            <a:ext cx="420497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669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[2] </a:t>
            </a:r>
            <a:r>
              <a:rPr dirty="0" sz="3600"/>
              <a:t>(Working</a:t>
            </a:r>
            <a:r>
              <a:rPr dirty="0" sz="3600" spc="-160"/>
              <a:t> </a:t>
            </a:r>
            <a:r>
              <a:rPr dirty="0" sz="3600" spc="-10"/>
              <a:t>Principle)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5249" y="1567145"/>
            <a:ext cx="8037195" cy="2494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130175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10">
                <a:latin typeface="Arial MT"/>
                <a:cs typeface="Arial MT"/>
              </a:rPr>
              <a:t>ESP32-</a:t>
            </a:r>
            <a:r>
              <a:rPr dirty="0" sz="1800">
                <a:latin typeface="Arial MT"/>
                <a:cs typeface="Arial MT"/>
              </a:rPr>
              <a:t>S3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microcontroller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coordinates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MAX30102</a:t>
            </a:r>
            <a:r>
              <a:rPr dirty="0" sz="1800" spc="48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MPU6050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IMU </a:t>
            </a:r>
            <a:r>
              <a:rPr dirty="0" sz="1800" spc="-10">
                <a:latin typeface="Arial MT"/>
                <a:cs typeface="Arial MT"/>
              </a:rPr>
              <a:t>sensors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PPG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sensor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captures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heart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rate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blood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oxygen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saturation</a:t>
            </a:r>
            <a:r>
              <a:rPr dirty="0" sz="1800" spc="1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A0A0A"/>
                </a:solidFill>
                <a:latin typeface="Arial MT"/>
                <a:cs typeface="Arial MT"/>
              </a:rPr>
              <a:t>SpO</a:t>
            </a:r>
            <a:r>
              <a:rPr dirty="0" sz="1800">
                <a:solidFill>
                  <a:srgbClr val="0A0A0A"/>
                </a:solidFill>
                <a:latin typeface="MS PGothic"/>
                <a:cs typeface="MS PGothic"/>
              </a:rPr>
              <a:t>₂</a:t>
            </a:r>
            <a:r>
              <a:rPr dirty="0" sz="1800" spc="-70">
                <a:solidFill>
                  <a:srgbClr val="0A0A0A"/>
                </a:solidFill>
                <a:latin typeface="MS PGothic"/>
                <a:cs typeface="MS PGothic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IMU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senso</a:t>
            </a:r>
            <a:r>
              <a:rPr dirty="0" sz="1800" b="1">
                <a:latin typeface="Arial"/>
                <a:cs typeface="Arial"/>
              </a:rPr>
              <a:t>r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>
                <a:latin typeface="Arial MT"/>
                <a:cs typeface="Arial MT"/>
              </a:rPr>
              <a:t>tracks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tri-</a:t>
            </a:r>
            <a:r>
              <a:rPr dirty="0" sz="1800">
                <a:latin typeface="Arial MT"/>
                <a:cs typeface="Arial MT"/>
              </a:rPr>
              <a:t>axial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wrist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identify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gate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artifacts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All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records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are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stored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flash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memory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ES32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dirty="0" sz="1800" spc="-20">
                <a:latin typeface="Arial MT"/>
                <a:cs typeface="Arial MT"/>
              </a:rPr>
              <a:t>Wi-</a:t>
            </a:r>
            <a:r>
              <a:rPr dirty="0" sz="1800">
                <a:latin typeface="Arial MT"/>
                <a:cs typeface="Arial MT"/>
              </a:rPr>
              <a:t>Fi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module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transmits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session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server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analysis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48830" y="54736"/>
            <a:ext cx="504126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515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[3] </a:t>
            </a:r>
            <a:r>
              <a:rPr dirty="0" sz="3600"/>
              <a:t>(Operational</a:t>
            </a:r>
            <a:r>
              <a:rPr dirty="0" sz="3600" spc="-75"/>
              <a:t> </a:t>
            </a:r>
            <a:r>
              <a:rPr dirty="0" sz="3600" spc="-10"/>
              <a:t>Workflow)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89783" y="1233038"/>
            <a:ext cx="8272145" cy="3355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6715" marR="47625" indent="-374650">
              <a:lnSpc>
                <a:spcPct val="114999"/>
              </a:lnSpc>
              <a:spcBef>
                <a:spcPts val="100"/>
              </a:spcBef>
              <a:buChar char="●"/>
              <a:tabLst>
                <a:tab pos="386715" algn="l"/>
              </a:tabLst>
            </a:pPr>
            <a:r>
              <a:rPr dirty="0" sz="1900" spc="-10">
                <a:latin typeface="Arial MT"/>
                <a:cs typeface="Arial MT"/>
              </a:rPr>
              <a:t>Butterworth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filtering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removes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baseline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drift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high-</a:t>
            </a:r>
            <a:r>
              <a:rPr dirty="0" sz="1900">
                <a:latin typeface="Arial MT"/>
                <a:cs typeface="Arial MT"/>
              </a:rPr>
              <a:t>frequency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noise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from </a:t>
            </a:r>
            <a:r>
              <a:rPr dirty="0" sz="1900">
                <a:latin typeface="Arial MT"/>
                <a:cs typeface="Arial MT"/>
              </a:rPr>
              <a:t>raw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PPG</a:t>
            </a:r>
            <a:r>
              <a:rPr dirty="0" sz="1900" spc="-3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signals</a:t>
            </a:r>
            <a:endParaRPr sz="1900">
              <a:latin typeface="Arial MT"/>
              <a:cs typeface="Arial MT"/>
            </a:endParaRPr>
          </a:p>
          <a:p>
            <a:pPr marL="386715" marR="667385" indent="-374650">
              <a:lnSpc>
                <a:spcPct val="114999"/>
              </a:lnSpc>
              <a:buChar char="●"/>
              <a:tabLst>
                <a:tab pos="386715" algn="l"/>
              </a:tabLst>
            </a:pPr>
            <a:r>
              <a:rPr dirty="0" sz="1900">
                <a:latin typeface="Arial MT"/>
                <a:cs typeface="Arial MT"/>
              </a:rPr>
              <a:t>Motion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gating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discards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PPG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segments</a:t>
            </a:r>
            <a:r>
              <a:rPr dirty="0" sz="1900" spc="-7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corrupted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by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significant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wrist movement</a:t>
            </a:r>
            <a:endParaRPr sz="1900">
              <a:latin typeface="Arial MT"/>
              <a:cs typeface="Arial MT"/>
            </a:endParaRPr>
          </a:p>
          <a:p>
            <a:pPr marL="386715" marR="525780" indent="-374650">
              <a:lnSpc>
                <a:spcPct val="114999"/>
              </a:lnSpc>
              <a:buChar char="●"/>
              <a:tabLst>
                <a:tab pos="386715" algn="l"/>
              </a:tabLst>
            </a:pPr>
            <a:r>
              <a:rPr dirty="0" sz="1900">
                <a:latin typeface="Arial MT"/>
                <a:cs typeface="Arial MT"/>
              </a:rPr>
              <a:t>Feature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extraction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derives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heart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rate</a:t>
            </a:r>
            <a:r>
              <a:rPr dirty="0" sz="1900" spc="-5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variability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and</a:t>
            </a:r>
            <a:r>
              <a:rPr dirty="0" sz="1900" spc="-35">
                <a:latin typeface="Arial MT"/>
                <a:cs typeface="Arial MT"/>
              </a:rPr>
              <a:t> </a:t>
            </a:r>
            <a:r>
              <a:rPr dirty="0" sz="1900">
                <a:solidFill>
                  <a:srgbClr val="0A0A0A"/>
                </a:solidFill>
                <a:latin typeface="Arial MT"/>
                <a:cs typeface="Arial MT"/>
              </a:rPr>
              <a:t>SpO</a:t>
            </a:r>
            <a:r>
              <a:rPr dirty="0" sz="1900">
                <a:solidFill>
                  <a:srgbClr val="0A0A0A"/>
                </a:solidFill>
                <a:latin typeface="MS PGothic"/>
                <a:cs typeface="MS PGothic"/>
              </a:rPr>
              <a:t>₂</a:t>
            </a:r>
            <a:r>
              <a:rPr dirty="0" sz="1900" spc="375">
                <a:solidFill>
                  <a:srgbClr val="0A0A0A"/>
                </a:solidFill>
                <a:latin typeface="MS PGothic"/>
                <a:cs typeface="MS PGothic"/>
              </a:rPr>
              <a:t> </a:t>
            </a:r>
            <a:r>
              <a:rPr dirty="0" sz="1900">
                <a:latin typeface="Arial MT"/>
                <a:cs typeface="Arial MT"/>
              </a:rPr>
              <a:t>levels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from </a:t>
            </a:r>
            <a:r>
              <a:rPr dirty="0" sz="1900">
                <a:latin typeface="Arial MT"/>
                <a:cs typeface="Arial MT"/>
              </a:rPr>
              <a:t>smoothed</a:t>
            </a:r>
            <a:r>
              <a:rPr dirty="0" sz="1900" spc="-12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waveforms</a:t>
            </a:r>
            <a:endParaRPr sz="1900">
              <a:latin typeface="Arial MT"/>
              <a:cs typeface="Arial MT"/>
            </a:endParaRPr>
          </a:p>
          <a:p>
            <a:pPr marL="386715" marR="342900" indent="-374650">
              <a:lnSpc>
                <a:spcPct val="114999"/>
              </a:lnSpc>
              <a:buChar char="●"/>
              <a:tabLst>
                <a:tab pos="386715" algn="l"/>
              </a:tabLst>
            </a:pPr>
            <a:r>
              <a:rPr dirty="0" sz="1900">
                <a:latin typeface="Arial MT"/>
                <a:cs typeface="Arial MT"/>
              </a:rPr>
              <a:t>Random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Forest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model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classifies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0">
                <a:latin typeface="Arial MT"/>
                <a:cs typeface="Arial MT"/>
              </a:rPr>
              <a:t>each-</a:t>
            </a:r>
            <a:r>
              <a:rPr dirty="0" sz="1900">
                <a:latin typeface="Arial MT"/>
                <a:cs typeface="Arial MT"/>
              </a:rPr>
              <a:t>second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segments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into</a:t>
            </a:r>
            <a:r>
              <a:rPr dirty="0" sz="1900" spc="-7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normal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25">
                <a:latin typeface="Arial MT"/>
                <a:cs typeface="Arial MT"/>
              </a:rPr>
              <a:t>or </a:t>
            </a:r>
            <a:r>
              <a:rPr dirty="0" sz="1900">
                <a:latin typeface="Arial MT"/>
                <a:cs typeface="Arial MT"/>
              </a:rPr>
              <a:t>apnea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events</a:t>
            </a:r>
            <a:endParaRPr sz="1900">
              <a:latin typeface="Arial MT"/>
              <a:cs typeface="Arial MT"/>
            </a:endParaRPr>
          </a:p>
          <a:p>
            <a:pPr marL="386715" marR="5080" indent="-374650">
              <a:lnSpc>
                <a:spcPct val="114999"/>
              </a:lnSpc>
              <a:buChar char="●"/>
              <a:tabLst>
                <a:tab pos="386715" algn="l"/>
              </a:tabLst>
            </a:pPr>
            <a:r>
              <a:rPr dirty="0" sz="1900" spc="-30">
                <a:latin typeface="Arial MT"/>
                <a:cs typeface="Arial MT"/>
              </a:rPr>
              <a:t>Temporal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aggregation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groups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consecutive</a:t>
            </a:r>
            <a:r>
              <a:rPr dirty="0" sz="1900" spc="-65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detections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to</a:t>
            </a:r>
            <a:r>
              <a:rPr dirty="0" sz="1900" spc="-60">
                <a:latin typeface="Arial MT"/>
                <a:cs typeface="Arial MT"/>
              </a:rPr>
              <a:t> </a:t>
            </a:r>
            <a:r>
              <a:rPr dirty="0" sz="1900">
                <a:latin typeface="Arial MT"/>
                <a:cs typeface="Arial MT"/>
              </a:rPr>
              <a:t>confirm</a:t>
            </a:r>
            <a:r>
              <a:rPr dirty="0" sz="1900" spc="-55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sustained </a:t>
            </a:r>
            <a:r>
              <a:rPr dirty="0" sz="1900">
                <a:latin typeface="Arial MT"/>
                <a:cs typeface="Arial MT"/>
              </a:rPr>
              <a:t>apnea</a:t>
            </a:r>
            <a:r>
              <a:rPr dirty="0" sz="1900" spc="-80">
                <a:latin typeface="Arial MT"/>
                <a:cs typeface="Arial MT"/>
              </a:rPr>
              <a:t> </a:t>
            </a:r>
            <a:r>
              <a:rPr dirty="0" sz="1900" spc="-10">
                <a:latin typeface="Arial MT"/>
                <a:cs typeface="Arial MT"/>
              </a:rPr>
              <a:t>events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48829" y="141420"/>
            <a:ext cx="504126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60515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[3] </a:t>
            </a:r>
            <a:r>
              <a:rPr dirty="0" sz="3600"/>
              <a:t>(Operational</a:t>
            </a:r>
            <a:r>
              <a:rPr dirty="0" sz="3600" spc="-75"/>
              <a:t> </a:t>
            </a:r>
            <a:r>
              <a:rPr dirty="0" sz="3600" spc="-10"/>
              <a:t>Workflow)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08359" y="1211030"/>
            <a:ext cx="7512050" cy="824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5285" marR="5080" indent="-363220">
              <a:lnSpc>
                <a:spcPct val="131000"/>
              </a:lnSpc>
              <a:spcBef>
                <a:spcPts val="95"/>
              </a:spcBef>
              <a:buChar char="●"/>
              <a:tabLst>
                <a:tab pos="375285" algn="l"/>
              </a:tabLst>
            </a:pPr>
            <a:r>
              <a:rPr dirty="0" sz="2000">
                <a:latin typeface="Arial MT"/>
                <a:cs typeface="Arial MT"/>
              </a:rPr>
              <a:t>AHI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calculation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quantifies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severity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sleep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based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 </a:t>
            </a:r>
            <a:r>
              <a:rPr dirty="0" sz="2000">
                <a:latin typeface="Arial MT"/>
                <a:cs typeface="Arial MT"/>
              </a:rPr>
              <a:t>hourly</a:t>
            </a:r>
            <a:r>
              <a:rPr dirty="0" sz="2000" spc="-2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event</a:t>
            </a:r>
            <a:r>
              <a:rPr dirty="0" sz="2000" spc="-10">
                <a:latin typeface="Arial MT"/>
                <a:cs typeface="Arial MT"/>
              </a:rPr>
              <a:t> counts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8359" y="3847397"/>
            <a:ext cx="8248015" cy="8242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5285" marR="5080" indent="-363220">
              <a:lnSpc>
                <a:spcPct val="131000"/>
              </a:lnSpc>
              <a:spcBef>
                <a:spcPts val="95"/>
              </a:spcBef>
              <a:buChar char="●"/>
              <a:tabLst>
                <a:tab pos="375285" algn="l"/>
              </a:tabLst>
            </a:pPr>
            <a:r>
              <a:rPr dirty="0" sz="2000">
                <a:latin typeface="Arial MT"/>
                <a:cs typeface="Arial MT"/>
              </a:rPr>
              <a:t>Web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dashboard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visualizes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time-series</a:t>
            </a:r>
            <a:r>
              <a:rPr dirty="0" sz="2000" spc="-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generates</a:t>
            </a:r>
            <a:r>
              <a:rPr dirty="0" sz="2000" spc="-1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daily</a:t>
            </a:r>
            <a:r>
              <a:rPr dirty="0" sz="2000" spc="-10">
                <a:latin typeface="Arial MT"/>
                <a:cs typeface="Arial MT"/>
              </a:rPr>
              <a:t> sleep </a:t>
            </a:r>
            <a:r>
              <a:rPr dirty="0" sz="2000">
                <a:latin typeface="Arial MT"/>
                <a:cs typeface="Arial MT"/>
              </a:rPr>
              <a:t>quality </a:t>
            </a:r>
            <a:r>
              <a:rPr dirty="0" sz="2000" spc="-10">
                <a:latin typeface="Arial MT"/>
                <a:cs typeface="Arial MT"/>
              </a:rPr>
              <a:t>reports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2780" y="2174559"/>
            <a:ext cx="4643706" cy="151189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3820" y="515516"/>
            <a:ext cx="1633855" cy="40836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202565">
              <a:lnSpc>
                <a:spcPts val="4079"/>
              </a:lnSpc>
            </a:pPr>
            <a:r>
              <a:rPr dirty="0" sz="3600" spc="-10" b="1">
                <a:latin typeface="Arial"/>
                <a:cs typeface="Arial"/>
              </a:rPr>
              <a:t>Methodology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-</a:t>
            </a:r>
            <a:r>
              <a:rPr dirty="0" sz="3600" spc="-95" b="1">
                <a:latin typeface="Arial"/>
                <a:cs typeface="Arial"/>
              </a:rPr>
              <a:t> </a:t>
            </a:r>
            <a:r>
              <a:rPr dirty="0" sz="3600" spc="-25" b="1">
                <a:latin typeface="Arial"/>
                <a:cs typeface="Arial"/>
              </a:rPr>
              <a:t>[4]</a:t>
            </a:r>
            <a:endParaRPr sz="3600">
              <a:latin typeface="Arial"/>
              <a:cs typeface="Arial"/>
            </a:endParaRPr>
          </a:p>
          <a:p>
            <a:pPr marL="1155065" marR="5080" indent="-1143000">
              <a:lnSpc>
                <a:spcPct val="100000"/>
              </a:lnSpc>
            </a:pPr>
            <a:r>
              <a:rPr dirty="0" sz="3600" b="1">
                <a:latin typeface="Arial"/>
                <a:cs typeface="Arial"/>
              </a:rPr>
              <a:t>(Flow</a:t>
            </a:r>
            <a:r>
              <a:rPr dirty="0" sz="3600" spc="-90" b="1">
                <a:latin typeface="Arial"/>
                <a:cs typeface="Arial"/>
              </a:rPr>
              <a:t> </a:t>
            </a:r>
            <a:r>
              <a:rPr dirty="0" sz="3600" b="1">
                <a:latin typeface="Arial"/>
                <a:cs typeface="Arial"/>
              </a:rPr>
              <a:t>Of</a:t>
            </a:r>
            <a:r>
              <a:rPr dirty="0" sz="3600" spc="-80" b="1">
                <a:latin typeface="Arial"/>
                <a:cs typeface="Arial"/>
              </a:rPr>
              <a:t> </a:t>
            </a:r>
            <a:r>
              <a:rPr dirty="0" sz="3600" spc="-10" b="1">
                <a:latin typeface="Arial"/>
                <a:cs typeface="Arial"/>
              </a:rPr>
              <a:t>Proposed System)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05977" y="260013"/>
            <a:ext cx="2787490" cy="460928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86130" marR="5080" indent="753745">
              <a:lnSpc>
                <a:spcPct val="100600"/>
              </a:lnSpc>
              <a:spcBef>
                <a:spcPts val="95"/>
              </a:spcBef>
            </a:pPr>
            <a:r>
              <a:rPr dirty="0" sz="3600"/>
              <a:t>Methodology</a:t>
            </a:r>
            <a:r>
              <a:rPr dirty="0" sz="3600" spc="-35"/>
              <a:t> </a:t>
            </a:r>
            <a:r>
              <a:rPr dirty="0" sz="3600"/>
              <a:t>-</a:t>
            </a:r>
            <a:r>
              <a:rPr dirty="0" sz="3600" spc="-25"/>
              <a:t> [5] </a:t>
            </a:r>
            <a:r>
              <a:rPr dirty="0" sz="3600"/>
              <a:t>(Hardware</a:t>
            </a:r>
            <a:r>
              <a:rPr dirty="0" sz="3600" spc="-40"/>
              <a:t> </a:t>
            </a:r>
            <a:r>
              <a:rPr dirty="0" sz="3600" spc="-10"/>
              <a:t>Requirement)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618074" y="1518378"/>
            <a:ext cx="3943985" cy="276860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marL="424815" indent="-412115">
              <a:lnSpc>
                <a:spcPct val="100000"/>
              </a:lnSpc>
              <a:spcBef>
                <a:spcPts val="1540"/>
              </a:spcBef>
              <a:buChar char="●"/>
              <a:tabLst>
                <a:tab pos="424815" algn="l"/>
              </a:tabLst>
            </a:pPr>
            <a:r>
              <a:rPr dirty="0" sz="2400" spc="-25">
                <a:latin typeface="Arial MT"/>
                <a:cs typeface="Arial MT"/>
              </a:rPr>
              <a:t>ESP32-</a:t>
            </a:r>
            <a:r>
              <a:rPr dirty="0" sz="2400">
                <a:latin typeface="Arial MT"/>
                <a:cs typeface="Arial MT"/>
              </a:rPr>
              <a:t>S3</a:t>
            </a:r>
            <a:r>
              <a:rPr dirty="0" sz="2400" spc="-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Microcontroller</a:t>
            </a:r>
            <a:endParaRPr sz="2400">
              <a:latin typeface="Arial MT"/>
              <a:cs typeface="Arial MT"/>
            </a:endParaRP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z="2400">
                <a:latin typeface="Arial MT"/>
                <a:cs typeface="Arial MT"/>
              </a:rPr>
              <a:t>MAX30102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PPG</a:t>
            </a:r>
            <a:r>
              <a:rPr dirty="0" sz="2400" spc="-8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Sensor</a:t>
            </a:r>
            <a:endParaRPr sz="2400">
              <a:latin typeface="Arial MT"/>
              <a:cs typeface="Arial MT"/>
            </a:endParaRP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z="2400">
                <a:latin typeface="Arial MT"/>
                <a:cs typeface="Arial MT"/>
              </a:rPr>
              <a:t>MPU6050</a:t>
            </a:r>
            <a:r>
              <a:rPr dirty="0" sz="2400" spc="-105">
                <a:latin typeface="Arial MT"/>
                <a:cs typeface="Arial MT"/>
              </a:rPr>
              <a:t> </a:t>
            </a:r>
            <a:r>
              <a:rPr dirty="0" sz="2400">
                <a:latin typeface="Arial MT"/>
                <a:cs typeface="Arial MT"/>
              </a:rPr>
              <a:t>IMU</a:t>
            </a:r>
            <a:r>
              <a:rPr dirty="0" sz="2400" spc="-10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Module</a:t>
            </a:r>
            <a:endParaRPr sz="2400">
              <a:latin typeface="Arial MT"/>
              <a:cs typeface="Arial MT"/>
            </a:endParaRP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z="2400" spc="-10">
                <a:latin typeface="Arial MT"/>
                <a:cs typeface="Arial MT"/>
              </a:rPr>
              <a:t>Rechargeable</a:t>
            </a:r>
            <a:r>
              <a:rPr dirty="0" sz="2400" spc="-90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Battery</a:t>
            </a:r>
            <a:endParaRPr sz="2400">
              <a:latin typeface="Arial MT"/>
              <a:cs typeface="Arial MT"/>
            </a:endParaRPr>
          </a:p>
          <a:p>
            <a:pPr marL="424815" indent="-412115">
              <a:lnSpc>
                <a:spcPct val="100000"/>
              </a:lnSpc>
              <a:spcBef>
                <a:spcPts val="1440"/>
              </a:spcBef>
              <a:buChar char="●"/>
              <a:tabLst>
                <a:tab pos="424815" algn="l"/>
              </a:tabLst>
            </a:pPr>
            <a:r>
              <a:rPr dirty="0" sz="2400">
                <a:latin typeface="Arial MT"/>
                <a:cs typeface="Arial MT"/>
              </a:rPr>
              <a:t>Boost</a:t>
            </a:r>
            <a:r>
              <a:rPr dirty="0" sz="2400" spc="-25">
                <a:latin typeface="Arial MT"/>
                <a:cs typeface="Arial MT"/>
              </a:rPr>
              <a:t> </a:t>
            </a:r>
            <a:r>
              <a:rPr dirty="0" sz="2400" spc="-10">
                <a:latin typeface="Arial MT"/>
                <a:cs typeface="Arial MT"/>
              </a:rPr>
              <a:t>Converter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703580" marR="5080" indent="676910">
              <a:lnSpc>
                <a:spcPct val="100600"/>
              </a:lnSpc>
              <a:spcBef>
                <a:spcPts val="95"/>
              </a:spcBef>
            </a:pPr>
            <a:r>
              <a:rPr dirty="0" sz="3600"/>
              <a:t>Methodology</a:t>
            </a:r>
            <a:r>
              <a:rPr dirty="0" sz="3600" spc="-35"/>
              <a:t> </a:t>
            </a:r>
            <a:r>
              <a:rPr dirty="0" sz="3600"/>
              <a:t>-</a:t>
            </a:r>
            <a:r>
              <a:rPr dirty="0" sz="3600" spc="-25"/>
              <a:t> [6] </a:t>
            </a:r>
            <a:r>
              <a:rPr dirty="0" sz="3600"/>
              <a:t>(Software</a:t>
            </a:r>
            <a:r>
              <a:rPr dirty="0" sz="3600" spc="-40"/>
              <a:t> </a:t>
            </a:r>
            <a:r>
              <a:rPr dirty="0" sz="3600" spc="-10"/>
              <a:t>Requirement)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718921" y="1417908"/>
            <a:ext cx="1927860" cy="3042920"/>
          </a:xfrm>
          <a:prstGeom prst="rect">
            <a:avLst/>
          </a:prstGeom>
        </p:spPr>
        <p:txBody>
          <a:bodyPr wrap="square" lIns="0" tIns="180340" rIns="0" bIns="0" rtlCol="0" vert="horz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1420"/>
              </a:spcBef>
              <a:buChar char="●"/>
              <a:tabLst>
                <a:tab pos="409575" algn="l"/>
              </a:tabLst>
            </a:pPr>
            <a:r>
              <a:rPr dirty="0" sz="2200">
                <a:latin typeface="Arial MT"/>
                <a:cs typeface="Arial MT"/>
              </a:rPr>
              <a:t>Arduino</a:t>
            </a:r>
            <a:r>
              <a:rPr dirty="0" sz="2200" spc="-114">
                <a:latin typeface="Arial MT"/>
                <a:cs typeface="Arial MT"/>
              </a:rPr>
              <a:t> </a:t>
            </a:r>
            <a:r>
              <a:rPr dirty="0" sz="2200" spc="-25">
                <a:latin typeface="Arial MT"/>
                <a:cs typeface="Arial MT"/>
              </a:rPr>
              <a:t>IDE</a:t>
            </a:r>
            <a:endParaRPr sz="22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dirty="0" sz="2200" spc="-10">
                <a:latin typeface="Arial MT"/>
                <a:cs typeface="Arial MT"/>
              </a:rPr>
              <a:t>Python</a:t>
            </a:r>
            <a:endParaRPr sz="22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dirty="0" sz="2200" spc="-10">
                <a:latin typeface="Arial MT"/>
                <a:cs typeface="Arial MT"/>
              </a:rPr>
              <a:t>Flask</a:t>
            </a:r>
            <a:endParaRPr sz="22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dirty="0" sz="2200" spc="-20">
                <a:latin typeface="Arial MT"/>
                <a:cs typeface="Arial MT"/>
              </a:rPr>
              <a:t>Scikit-</a:t>
            </a:r>
            <a:r>
              <a:rPr dirty="0" sz="2200" spc="-10">
                <a:latin typeface="Arial MT"/>
                <a:cs typeface="Arial MT"/>
              </a:rPr>
              <a:t>learn</a:t>
            </a:r>
            <a:endParaRPr sz="22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dirty="0" sz="2200">
                <a:latin typeface="Arial MT"/>
                <a:cs typeface="Arial MT"/>
              </a:rPr>
              <a:t>Git</a:t>
            </a:r>
            <a:r>
              <a:rPr dirty="0" sz="2200" spc="-30">
                <a:latin typeface="Arial MT"/>
                <a:cs typeface="Arial MT"/>
              </a:rPr>
              <a:t> </a:t>
            </a:r>
            <a:r>
              <a:rPr dirty="0" sz="2200">
                <a:latin typeface="Arial MT"/>
                <a:cs typeface="Arial MT"/>
              </a:rPr>
              <a:t>/</a:t>
            </a:r>
            <a:r>
              <a:rPr dirty="0" sz="2200" spc="-25">
                <a:latin typeface="Arial MT"/>
                <a:cs typeface="Arial MT"/>
              </a:rPr>
              <a:t> </a:t>
            </a:r>
            <a:r>
              <a:rPr dirty="0" sz="2200" spc="-10">
                <a:latin typeface="Arial MT"/>
                <a:cs typeface="Arial MT"/>
              </a:rPr>
              <a:t>Github</a:t>
            </a:r>
            <a:endParaRPr sz="22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320"/>
              </a:spcBef>
              <a:buChar char="●"/>
              <a:tabLst>
                <a:tab pos="409575" algn="l"/>
              </a:tabLst>
            </a:pPr>
            <a:r>
              <a:rPr dirty="0" sz="2200" spc="-10">
                <a:latin typeface="Arial MT"/>
                <a:cs typeface="Arial MT"/>
              </a:rPr>
              <a:t>Matlab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201138" y="314311"/>
            <a:ext cx="7016115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59258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[7] </a:t>
            </a:r>
            <a:r>
              <a:rPr dirty="0" sz="3600"/>
              <a:t>(Machine</a:t>
            </a:r>
            <a:r>
              <a:rPr dirty="0" sz="3600" spc="-45"/>
              <a:t> </a:t>
            </a:r>
            <a:r>
              <a:rPr dirty="0" sz="3600"/>
              <a:t>Learning</a:t>
            </a:r>
            <a:r>
              <a:rPr dirty="0" sz="3600" spc="-170"/>
              <a:t> </a:t>
            </a:r>
            <a:r>
              <a:rPr dirty="0" sz="3600" spc="-10"/>
              <a:t>Architecture)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45692" y="1554265"/>
            <a:ext cx="7958455" cy="2311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4335" marR="374015" indent="-382270">
              <a:lnSpc>
                <a:spcPct val="150000"/>
              </a:lnSpc>
              <a:spcBef>
                <a:spcPts val="100"/>
              </a:spcBef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Forest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machine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learning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technique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that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uses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many </a:t>
            </a:r>
            <a:r>
              <a:rPr dirty="0" sz="2000">
                <a:latin typeface="Arial MT"/>
                <a:cs typeface="Arial MT"/>
              </a:rPr>
              <a:t>decision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instead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just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one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Each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tree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trained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different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subset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3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data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final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prediction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made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by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combining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results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of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all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trees</a:t>
            </a:r>
            <a:endParaRPr sz="2000">
              <a:latin typeface="Arial MT"/>
              <a:cs typeface="Arial MT"/>
            </a:endParaRPr>
          </a:p>
          <a:p>
            <a:pPr marL="394335" indent="-381635">
              <a:lnSpc>
                <a:spcPct val="100000"/>
              </a:lnSpc>
              <a:spcBef>
                <a:spcPts val="1200"/>
              </a:spcBef>
              <a:buChar char="●"/>
              <a:tabLst>
                <a:tab pos="394335" algn="l"/>
              </a:tabLst>
            </a:pPr>
            <a:r>
              <a:rPr dirty="0" sz="2000">
                <a:latin typeface="Arial MT"/>
                <a:cs typeface="Arial MT"/>
              </a:rPr>
              <a:t>This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approach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helps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reduce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overfitting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improves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generalization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32524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[8] </a:t>
            </a:r>
            <a:r>
              <a:rPr dirty="0" sz="3600"/>
              <a:t>(Random</a:t>
            </a:r>
            <a:r>
              <a:rPr dirty="0" sz="3600" spc="-25"/>
              <a:t> </a:t>
            </a:r>
            <a:r>
              <a:rPr dirty="0" sz="3600"/>
              <a:t>Forest</a:t>
            </a:r>
            <a:r>
              <a:rPr dirty="0" sz="3600" spc="-150"/>
              <a:t> </a:t>
            </a:r>
            <a:r>
              <a:rPr dirty="0" sz="3600" spc="-10"/>
              <a:t>Architecture)</a:t>
            </a:r>
            <a:endParaRPr sz="36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28300" y="1437950"/>
            <a:ext cx="6448624" cy="353244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14</a:t>
            </a:fld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86360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875030" marR="5080" indent="407034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5"/>
              <a:t>[9] </a:t>
            </a:r>
            <a:r>
              <a:rPr dirty="0" sz="3600"/>
              <a:t>(Dataset</a:t>
            </a:r>
            <a:r>
              <a:rPr dirty="0" sz="3600" spc="-5"/>
              <a:t> </a:t>
            </a:r>
            <a:r>
              <a:rPr dirty="0" sz="3600" spc="-10"/>
              <a:t>Preparation)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54414" y="1455191"/>
            <a:ext cx="7856220" cy="3074035"/>
          </a:xfrm>
          <a:prstGeom prst="rect">
            <a:avLst/>
          </a:prstGeom>
        </p:spPr>
        <p:txBody>
          <a:bodyPr wrap="square" lIns="0" tIns="130810" rIns="0" bIns="0" rtlCol="0" vert="horz">
            <a:spAutoFit/>
          </a:bodyPr>
          <a:lstStyle/>
          <a:p>
            <a:pPr marL="409575" indent="-396875">
              <a:lnSpc>
                <a:spcPct val="100000"/>
              </a:lnSpc>
              <a:spcBef>
                <a:spcPts val="1030"/>
              </a:spcBef>
              <a:buClr>
                <a:srgbClr val="595959"/>
              </a:buClr>
              <a:buSzPct val="122222"/>
              <a:buChar char="●"/>
              <a:tabLst>
                <a:tab pos="409575" algn="l"/>
              </a:tabLst>
            </a:pP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sourced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ScienceDB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multimodal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sleep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apnea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dataset</a:t>
            </a:r>
            <a:endParaRPr sz="18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535"/>
              </a:spcBef>
              <a:buSzPct val="122222"/>
              <a:buChar char="●"/>
              <a:tabLst>
                <a:tab pos="409575" algn="l"/>
              </a:tabLst>
            </a:pPr>
            <a:r>
              <a:rPr dirty="0" sz="1800">
                <a:latin typeface="Arial MT"/>
                <a:cs typeface="Arial MT"/>
              </a:rPr>
              <a:t>Focus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continuous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solidFill>
                  <a:srgbClr val="0A0A0A"/>
                </a:solidFill>
                <a:latin typeface="Arial MT"/>
                <a:cs typeface="Arial MT"/>
              </a:rPr>
              <a:t>SpO</a:t>
            </a:r>
            <a:r>
              <a:rPr dirty="0" sz="1800">
                <a:solidFill>
                  <a:srgbClr val="0A0A0A"/>
                </a:solidFill>
                <a:latin typeface="MS PGothic"/>
                <a:cs typeface="MS PGothic"/>
              </a:rPr>
              <a:t>₂</a:t>
            </a:r>
            <a:r>
              <a:rPr dirty="0" sz="1800" spc="-60">
                <a:solidFill>
                  <a:srgbClr val="0A0A0A"/>
                </a:solidFill>
                <a:latin typeface="MS PGothic"/>
                <a:cs typeface="MS PGothic"/>
              </a:rPr>
              <a:t> </a:t>
            </a:r>
            <a:r>
              <a:rPr dirty="0" sz="1800">
                <a:latin typeface="Arial MT"/>
                <a:cs typeface="Arial MT"/>
              </a:rPr>
              <a:t>saturation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levels</a:t>
            </a:r>
            <a:endParaRPr sz="1800">
              <a:latin typeface="Arial MT"/>
              <a:cs typeface="Arial MT"/>
            </a:endParaRPr>
          </a:p>
          <a:p>
            <a:pPr marL="409575" marR="770255" indent="-397510">
              <a:lnSpc>
                <a:spcPct val="153300"/>
              </a:lnSpc>
              <a:spcBef>
                <a:spcPts val="385"/>
              </a:spcBef>
              <a:buSzPct val="122222"/>
              <a:buChar char="●"/>
              <a:tabLst>
                <a:tab pos="409575" algn="l"/>
              </a:tabLst>
            </a:pPr>
            <a:r>
              <a:rPr dirty="0" sz="1800">
                <a:latin typeface="Arial MT"/>
                <a:cs typeface="Arial MT"/>
              </a:rPr>
              <a:t>Labeled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each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window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apnea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(1)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normal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(0)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clinical annotations.</a:t>
            </a:r>
            <a:endParaRPr sz="1800">
              <a:latin typeface="Arial MT"/>
              <a:cs typeface="Arial MT"/>
            </a:endParaRPr>
          </a:p>
          <a:p>
            <a:pPr marL="409575" marR="5080" indent="-397510">
              <a:lnSpc>
                <a:spcPct val="153300"/>
              </a:lnSpc>
              <a:spcBef>
                <a:spcPts val="95"/>
              </a:spcBef>
              <a:buSzPct val="122222"/>
              <a:buChar char="●"/>
              <a:tabLst>
                <a:tab pos="409575" algn="l"/>
              </a:tabLst>
            </a:pPr>
            <a:r>
              <a:rPr dirty="0" sz="1800">
                <a:latin typeface="Arial MT"/>
                <a:cs typeface="Arial MT"/>
              </a:rPr>
              <a:t>Extracted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12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handcrafted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features: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stats,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SpO</a:t>
            </a:r>
            <a:r>
              <a:rPr dirty="0" sz="1800">
                <a:latin typeface="MS PGothic"/>
                <a:cs typeface="MS PGothic"/>
              </a:rPr>
              <a:t>₂</a:t>
            </a:r>
            <a:r>
              <a:rPr dirty="0" sz="1800" spc="-65">
                <a:latin typeface="MS PGothic"/>
                <a:cs typeface="MS PGothic"/>
              </a:rPr>
              <a:t> </a:t>
            </a:r>
            <a:r>
              <a:rPr dirty="0" sz="1800">
                <a:latin typeface="Arial MT"/>
                <a:cs typeface="Arial MT"/>
              </a:rPr>
              <a:t>stats,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cross-signal features.</a:t>
            </a:r>
            <a:endParaRPr sz="1800">
              <a:latin typeface="Arial MT"/>
              <a:cs typeface="Arial MT"/>
            </a:endParaRPr>
          </a:p>
          <a:p>
            <a:pPr marL="409575" indent="-396875">
              <a:lnSpc>
                <a:spcPct val="100000"/>
              </a:lnSpc>
              <a:spcBef>
                <a:spcPts val="1250"/>
              </a:spcBef>
              <a:buSzPct val="122222"/>
              <a:buChar char="●"/>
              <a:tabLst>
                <a:tab pos="409575" algn="l"/>
              </a:tabLst>
            </a:pPr>
            <a:r>
              <a:rPr dirty="0" sz="1800">
                <a:latin typeface="Arial MT"/>
                <a:cs typeface="Arial MT"/>
              </a:rPr>
              <a:t>Dataset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was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splitted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into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train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/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validation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/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test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sets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patient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level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131" y="4639519"/>
            <a:ext cx="27597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5555" sz="1500" spc="-15">
                <a:solidFill>
                  <a:srgbClr val="595959"/>
                </a:solidFill>
                <a:latin typeface="Arial MT"/>
                <a:cs typeface="Arial MT"/>
              </a:rPr>
              <a:t>3/23/2026</a:t>
            </a:r>
            <a:r>
              <a:rPr dirty="0" sz="1800" spc="-10">
                <a:latin typeface="Arial MT"/>
                <a:cs typeface="Arial MT"/>
              </a:rPr>
              <a:t>prevent</a:t>
            </a:r>
            <a:r>
              <a:rPr dirty="0" sz="1800" spc="-5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leakage.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1525" y="4766037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595959"/>
                </a:solidFill>
                <a:latin typeface="Arial MT"/>
                <a:cs typeface="Arial MT"/>
              </a:rPr>
              <a:t>17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66668" y="491016"/>
            <a:ext cx="979169" cy="427736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algn="ctr">
              <a:lnSpc>
                <a:spcPts val="3675"/>
              </a:lnSpc>
            </a:pPr>
            <a:r>
              <a:rPr dirty="0" sz="3200" b="1">
                <a:latin typeface="Arial"/>
                <a:cs typeface="Arial"/>
              </a:rPr>
              <a:t>Methodology</a:t>
            </a:r>
            <a:r>
              <a:rPr dirty="0" sz="3200" spc="80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-</a:t>
            </a:r>
            <a:r>
              <a:rPr dirty="0" sz="3200" spc="85" b="1">
                <a:latin typeface="Arial"/>
                <a:cs typeface="Arial"/>
              </a:rPr>
              <a:t> </a:t>
            </a:r>
            <a:r>
              <a:rPr dirty="0" sz="3200" spc="-20" b="1">
                <a:latin typeface="Arial"/>
                <a:cs typeface="Arial"/>
              </a:rPr>
              <a:t>[10]</a:t>
            </a:r>
            <a:endParaRPr sz="3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dirty="0" sz="3200" b="1">
                <a:latin typeface="Arial"/>
                <a:cs typeface="Arial"/>
              </a:rPr>
              <a:t>(Snapshot</a:t>
            </a:r>
            <a:r>
              <a:rPr dirty="0" sz="3200" spc="95" b="1">
                <a:latin typeface="Arial"/>
                <a:cs typeface="Arial"/>
              </a:rPr>
              <a:t> </a:t>
            </a:r>
            <a:r>
              <a:rPr dirty="0" sz="3200" b="1">
                <a:latin typeface="Arial"/>
                <a:cs typeface="Arial"/>
              </a:rPr>
              <a:t>of</a:t>
            </a:r>
            <a:r>
              <a:rPr dirty="0" sz="3200" spc="100" b="1">
                <a:latin typeface="Arial"/>
                <a:cs typeface="Arial"/>
              </a:rPr>
              <a:t> </a:t>
            </a:r>
            <a:r>
              <a:rPr dirty="0" sz="3200" spc="-10" b="1">
                <a:latin typeface="Arial"/>
                <a:cs typeface="Arial"/>
              </a:rPr>
              <a:t>Dataset)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2376" y="350587"/>
            <a:ext cx="3028487" cy="40842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00354" y="474050"/>
            <a:ext cx="2487599" cy="396078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18</a:t>
            </a:fld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18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728924" y="209836"/>
            <a:ext cx="4062729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6700" marR="5080" indent="-25463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Methodology</a:t>
            </a:r>
            <a:r>
              <a:rPr dirty="0" sz="3600" spc="-95"/>
              <a:t> </a:t>
            </a:r>
            <a:r>
              <a:rPr dirty="0" sz="3600"/>
              <a:t>-</a:t>
            </a:r>
            <a:r>
              <a:rPr dirty="0" sz="3600" spc="-95"/>
              <a:t> </a:t>
            </a:r>
            <a:r>
              <a:rPr dirty="0" sz="3600" spc="-20"/>
              <a:t>[11] </a:t>
            </a:r>
            <a:r>
              <a:rPr dirty="0" sz="3600"/>
              <a:t>(Model</a:t>
            </a:r>
            <a:r>
              <a:rPr dirty="0" sz="3600" spc="-155"/>
              <a:t> </a:t>
            </a:r>
            <a:r>
              <a:rPr dirty="0" sz="3600" spc="-10"/>
              <a:t>Training)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547098" y="1404979"/>
            <a:ext cx="8242934" cy="224853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374015" indent="-361315">
              <a:lnSpc>
                <a:spcPct val="100000"/>
              </a:lnSpc>
              <a:spcBef>
                <a:spcPts val="790"/>
              </a:spcBef>
              <a:buClr>
                <a:srgbClr val="595959"/>
              </a:buClr>
              <a:buChar char="●"/>
              <a:tabLst>
                <a:tab pos="374015" algn="l"/>
              </a:tabLst>
            </a:pPr>
            <a:r>
              <a:rPr dirty="0" sz="1850">
                <a:latin typeface="Arial MT"/>
                <a:cs typeface="Arial MT"/>
              </a:rPr>
              <a:t>Trained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Random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Forest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classifier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12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extracted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HR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SpO</a:t>
            </a:r>
            <a:r>
              <a:rPr dirty="0" sz="1850">
                <a:latin typeface="MS PGothic"/>
                <a:cs typeface="MS PGothic"/>
              </a:rPr>
              <a:t>₂</a:t>
            </a:r>
            <a:r>
              <a:rPr dirty="0" sz="1850" spc="-25">
                <a:latin typeface="MS PGothic"/>
                <a:cs typeface="MS PGothic"/>
              </a:rPr>
              <a:t> </a:t>
            </a:r>
            <a:r>
              <a:rPr dirty="0" sz="1850" spc="-10">
                <a:latin typeface="Arial MT"/>
                <a:cs typeface="Arial MT"/>
              </a:rPr>
              <a:t>features.</a:t>
            </a:r>
            <a:endParaRPr sz="1850">
              <a:latin typeface="Arial MT"/>
              <a:cs typeface="Arial MT"/>
            </a:endParaRPr>
          </a:p>
          <a:p>
            <a:pPr marL="374015" indent="-361315">
              <a:lnSpc>
                <a:spcPct val="100000"/>
              </a:lnSpc>
              <a:spcBef>
                <a:spcPts val="700"/>
              </a:spcBef>
              <a:buClr>
                <a:srgbClr val="595959"/>
              </a:buClr>
              <a:buChar char="●"/>
              <a:tabLst>
                <a:tab pos="374015" algn="l"/>
              </a:tabLst>
            </a:pPr>
            <a:r>
              <a:rPr dirty="0" sz="1850">
                <a:latin typeface="Arial MT"/>
                <a:cs typeface="Arial MT"/>
              </a:rPr>
              <a:t>Applied</a:t>
            </a:r>
            <a:r>
              <a:rPr dirty="0" sz="1850" spc="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class</a:t>
            </a:r>
            <a:r>
              <a:rPr dirty="0" sz="1850" spc="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weighting</a:t>
            </a:r>
            <a:r>
              <a:rPr dirty="0" sz="1850" spc="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compensate</a:t>
            </a:r>
            <a:r>
              <a:rPr dirty="0" sz="1850" spc="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for</a:t>
            </a:r>
            <a:r>
              <a:rPr dirty="0" sz="1850" spc="3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apnea/normal</a:t>
            </a:r>
            <a:r>
              <a:rPr dirty="0" sz="1850" spc="4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class</a:t>
            </a:r>
            <a:r>
              <a:rPr dirty="0" sz="1850" spc="3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imbalance.</a:t>
            </a:r>
            <a:endParaRPr sz="1850">
              <a:latin typeface="Arial MT"/>
              <a:cs typeface="Arial MT"/>
            </a:endParaRPr>
          </a:p>
          <a:p>
            <a:pPr marL="374015" indent="-361315">
              <a:lnSpc>
                <a:spcPct val="100000"/>
              </a:lnSpc>
              <a:spcBef>
                <a:spcPts val="695"/>
              </a:spcBef>
              <a:buClr>
                <a:srgbClr val="595959"/>
              </a:buClr>
              <a:buChar char="●"/>
              <a:tabLst>
                <a:tab pos="374015" algn="l"/>
              </a:tabLst>
            </a:pPr>
            <a:r>
              <a:rPr dirty="0" sz="1850">
                <a:latin typeface="Arial MT"/>
                <a:cs typeface="Arial MT"/>
              </a:rPr>
              <a:t>Tuned</a:t>
            </a:r>
            <a:r>
              <a:rPr dirty="0" sz="1850" spc="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decision</a:t>
            </a:r>
            <a:r>
              <a:rPr dirty="0" sz="1850" spc="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threshold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validation</a:t>
            </a:r>
            <a:r>
              <a:rPr dirty="0" sz="1850" spc="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set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1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maximise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F1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score.</a:t>
            </a:r>
            <a:endParaRPr sz="1850">
              <a:latin typeface="Arial MT"/>
              <a:cs typeface="Arial MT"/>
            </a:endParaRPr>
          </a:p>
          <a:p>
            <a:pPr marL="374015" indent="-361315">
              <a:lnSpc>
                <a:spcPct val="100000"/>
              </a:lnSpc>
              <a:spcBef>
                <a:spcPts val="700"/>
              </a:spcBef>
              <a:buClr>
                <a:srgbClr val="595959"/>
              </a:buClr>
              <a:buChar char="●"/>
              <a:tabLst>
                <a:tab pos="374015" algn="l"/>
              </a:tabLst>
            </a:pPr>
            <a:r>
              <a:rPr dirty="0" sz="1850">
                <a:latin typeface="Arial MT"/>
                <a:cs typeface="Arial MT"/>
              </a:rPr>
              <a:t>Final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model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was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evulated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the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held-out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test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set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of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10</a:t>
            </a:r>
            <a:r>
              <a:rPr dirty="0" sz="1850" spc="2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unseen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 spc="-10">
                <a:latin typeface="Arial MT"/>
                <a:cs typeface="Arial MT"/>
              </a:rPr>
              <a:t>patients.</a:t>
            </a:r>
            <a:endParaRPr sz="1850">
              <a:latin typeface="Arial MT"/>
              <a:cs typeface="Arial MT"/>
            </a:endParaRPr>
          </a:p>
          <a:p>
            <a:pPr marL="374015" marR="168910" indent="-361950">
              <a:lnSpc>
                <a:spcPct val="131400"/>
              </a:lnSpc>
              <a:buClr>
                <a:srgbClr val="595959"/>
              </a:buClr>
              <a:buChar char="●"/>
              <a:tabLst>
                <a:tab pos="374015" algn="l"/>
              </a:tabLst>
            </a:pPr>
            <a:r>
              <a:rPr dirty="0" sz="1850">
                <a:latin typeface="Arial MT"/>
                <a:cs typeface="Arial MT"/>
              </a:rPr>
              <a:t>Serialize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trained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model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to</a:t>
            </a:r>
            <a:r>
              <a:rPr dirty="0" sz="1850" spc="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.joblib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file</a:t>
            </a:r>
            <a:r>
              <a:rPr dirty="0" sz="1850" spc="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and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deploy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on</a:t>
            </a:r>
            <a:r>
              <a:rPr dirty="0" sz="1850" spc="30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Flask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web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>
                <a:latin typeface="Arial MT"/>
                <a:cs typeface="Arial MT"/>
              </a:rPr>
              <a:t>server</a:t>
            </a:r>
            <a:r>
              <a:rPr dirty="0" sz="1850" spc="25">
                <a:latin typeface="Arial MT"/>
                <a:cs typeface="Arial MT"/>
              </a:rPr>
              <a:t> </a:t>
            </a:r>
            <a:r>
              <a:rPr dirty="0" sz="1850" spc="-25">
                <a:latin typeface="Arial MT"/>
                <a:cs typeface="Arial MT"/>
              </a:rPr>
              <a:t>for </a:t>
            </a:r>
            <a:r>
              <a:rPr dirty="0" sz="1850" spc="-10">
                <a:latin typeface="Arial MT"/>
                <a:cs typeface="Arial MT"/>
              </a:rPr>
              <a:t>inference.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181722" y="219708"/>
            <a:ext cx="4775835" cy="10134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1497330">
              <a:lnSpc>
                <a:spcPct val="101299"/>
              </a:lnSpc>
              <a:spcBef>
                <a:spcPts val="90"/>
              </a:spcBef>
            </a:pPr>
            <a:r>
              <a:rPr dirty="0" sz="3200" spc="-10"/>
              <a:t>Result[1] </a:t>
            </a:r>
            <a:r>
              <a:rPr dirty="0" sz="3200"/>
              <a:t>(Precision-Recall</a:t>
            </a:r>
            <a:r>
              <a:rPr dirty="0" sz="3200" spc="180"/>
              <a:t> </a:t>
            </a:r>
            <a:r>
              <a:rPr dirty="0" sz="3200" spc="-10"/>
              <a:t>Curve)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1229" y="1153861"/>
            <a:ext cx="4941540" cy="370615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25117" y="267834"/>
            <a:ext cx="2494280" cy="101346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 marR="5080" indent="353695">
              <a:lnSpc>
                <a:spcPct val="101299"/>
              </a:lnSpc>
              <a:spcBef>
                <a:spcPts val="90"/>
              </a:spcBef>
            </a:pPr>
            <a:r>
              <a:rPr dirty="0" sz="3200" spc="-10"/>
              <a:t>Result[2] </a:t>
            </a:r>
            <a:r>
              <a:rPr dirty="0" sz="3200"/>
              <a:t>(ROC</a:t>
            </a:r>
            <a:r>
              <a:rPr dirty="0" sz="3200" spc="70"/>
              <a:t> </a:t>
            </a:r>
            <a:r>
              <a:rPr dirty="0" sz="3200" spc="-10"/>
              <a:t>Curve)</a:t>
            </a:r>
            <a:endParaRPr sz="3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03143" y="1354490"/>
            <a:ext cx="4972002" cy="366899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540186" y="211004"/>
            <a:ext cx="4059554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1040765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Result[3] </a:t>
            </a:r>
            <a:r>
              <a:rPr dirty="0" sz="3600"/>
              <a:t>(Confusion</a:t>
            </a:r>
            <a:r>
              <a:rPr dirty="0" sz="3600" spc="-245"/>
              <a:t> </a:t>
            </a:r>
            <a:r>
              <a:rPr dirty="0" sz="3600" spc="-10"/>
              <a:t>Matrix)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475249" y="1649508"/>
            <a:ext cx="4505325" cy="2545715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20"/>
              </a:spcBef>
              <a:buClr>
                <a:srgbClr val="595959"/>
              </a:buClr>
              <a:buSzPct val="128571"/>
              <a:buChar char="●"/>
              <a:tabLst>
                <a:tab pos="379095" algn="l"/>
              </a:tabLst>
            </a:pPr>
            <a:r>
              <a:rPr dirty="0" sz="1400">
                <a:latin typeface="Arial MT"/>
                <a:cs typeface="Arial MT"/>
              </a:rPr>
              <a:t>Out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3,730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actual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apnea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windows: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420"/>
              </a:spcBef>
              <a:buClr>
                <a:srgbClr val="595959"/>
              </a:buClr>
              <a:buChar char="○"/>
              <a:tabLst>
                <a:tab pos="836294" algn="l"/>
              </a:tabLst>
            </a:pPr>
            <a:r>
              <a:rPr dirty="0" sz="1400" spc="-10">
                <a:latin typeface="Arial MT"/>
                <a:cs typeface="Arial MT"/>
              </a:rPr>
              <a:t>3,116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correctly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detected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apnea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lr>
                <a:srgbClr val="595959"/>
              </a:buClr>
              <a:buChar char="○"/>
              <a:tabLst>
                <a:tab pos="836294" algn="l"/>
              </a:tabLst>
            </a:pPr>
            <a:r>
              <a:rPr dirty="0" sz="1400">
                <a:latin typeface="Arial MT"/>
                <a:cs typeface="Arial MT"/>
              </a:rPr>
              <a:t>614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missed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(false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negatives)</a:t>
            </a:r>
            <a:endParaRPr sz="14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635"/>
              </a:spcBef>
              <a:buClr>
                <a:srgbClr val="595959"/>
              </a:buClr>
              <a:buSzPct val="128571"/>
              <a:buChar char="●"/>
              <a:tabLst>
                <a:tab pos="379095" algn="l"/>
              </a:tabLst>
            </a:pPr>
            <a:r>
              <a:rPr dirty="0" sz="1400">
                <a:latin typeface="Arial MT"/>
                <a:cs typeface="Arial MT"/>
              </a:rPr>
              <a:t>Out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of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4,830</a:t>
            </a:r>
            <a:r>
              <a:rPr dirty="0" sz="1400" spc="-2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actual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normal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windows: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420"/>
              </a:spcBef>
              <a:buClr>
                <a:srgbClr val="595959"/>
              </a:buClr>
              <a:buChar char="○"/>
              <a:tabLst>
                <a:tab pos="836294" algn="l"/>
              </a:tabLst>
            </a:pPr>
            <a:r>
              <a:rPr dirty="0" sz="1400">
                <a:latin typeface="Arial MT"/>
                <a:cs typeface="Arial MT"/>
              </a:rPr>
              <a:t>4,012</a:t>
            </a:r>
            <a:r>
              <a:rPr dirty="0" sz="1400" spc="-35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correctly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identified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normal</a:t>
            </a:r>
            <a:endParaRPr sz="1400">
              <a:latin typeface="Arial MT"/>
              <a:cs typeface="Arial MT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lr>
                <a:srgbClr val="595959"/>
              </a:buClr>
              <a:buChar char="○"/>
              <a:tabLst>
                <a:tab pos="836294" algn="l"/>
              </a:tabLst>
            </a:pPr>
            <a:r>
              <a:rPr dirty="0" sz="1400">
                <a:latin typeface="Arial MT"/>
                <a:cs typeface="Arial MT"/>
              </a:rPr>
              <a:t>818</a:t>
            </a:r>
            <a:r>
              <a:rPr dirty="0" sz="1400" spc="-3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wrongly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flagged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as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apnea</a:t>
            </a:r>
            <a:r>
              <a:rPr dirty="0" sz="1400" spc="-20">
                <a:latin typeface="Arial MT"/>
                <a:cs typeface="Arial MT"/>
              </a:rPr>
              <a:t> </a:t>
            </a:r>
            <a:r>
              <a:rPr dirty="0" sz="1400">
                <a:latin typeface="Arial MT"/>
                <a:cs typeface="Arial MT"/>
              </a:rPr>
              <a:t>(false</a:t>
            </a:r>
            <a:r>
              <a:rPr dirty="0" sz="1400" spc="-15">
                <a:latin typeface="Arial MT"/>
                <a:cs typeface="Arial MT"/>
              </a:rPr>
              <a:t> </a:t>
            </a:r>
            <a:r>
              <a:rPr dirty="0" sz="1400" spc="-10">
                <a:latin typeface="Arial MT"/>
                <a:cs typeface="Arial MT"/>
              </a:rPr>
              <a:t>positives)</a:t>
            </a:r>
            <a:endParaRPr sz="14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lr>
                <a:srgbClr val="595959"/>
              </a:buClr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Accuracy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≈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83%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lr>
                <a:srgbClr val="595959"/>
              </a:buClr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Precision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≈</a:t>
            </a:r>
            <a:r>
              <a:rPr dirty="0" sz="1800" spc="-25">
                <a:latin typeface="Arial MT"/>
                <a:cs typeface="Arial MT"/>
              </a:rPr>
              <a:t> 79%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lr>
                <a:srgbClr val="595959"/>
              </a:buClr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Recall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≈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83%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5254" y="1833072"/>
            <a:ext cx="2144504" cy="22409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20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540151" y="200912"/>
            <a:ext cx="19818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Result[4]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8781525" y="4766037"/>
            <a:ext cx="1670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25">
                <a:solidFill>
                  <a:srgbClr val="595959"/>
                </a:solidFill>
                <a:latin typeface="Arial MT"/>
                <a:cs typeface="Arial MT"/>
              </a:rPr>
              <a:t>23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131" y="4731170"/>
            <a:ext cx="5905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595959"/>
                </a:solidFill>
                <a:latin typeface="Arial MT"/>
                <a:cs typeface="Arial MT"/>
              </a:rPr>
              <a:t>3/23/2026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51370" y="859308"/>
            <a:ext cx="2440672" cy="314867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39874" y="3250206"/>
            <a:ext cx="6515734" cy="158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308546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latin typeface="Arial MT"/>
                <a:cs typeface="Arial MT"/>
              </a:rPr>
              <a:t>Dashboard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for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Data </a:t>
            </a:r>
            <a:r>
              <a:rPr dirty="0" sz="1800">
                <a:latin typeface="Arial MT"/>
                <a:cs typeface="Arial MT"/>
              </a:rPr>
              <a:t>Visualization,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generating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each </a:t>
            </a:r>
            <a:r>
              <a:rPr dirty="0" sz="1800">
                <a:latin typeface="Arial MT"/>
                <a:cs typeface="Arial MT"/>
              </a:rPr>
              <a:t>day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reports</a:t>
            </a:r>
            <a:endParaRPr sz="1800">
              <a:latin typeface="Arial MT"/>
              <a:cs typeface="Arial MT"/>
            </a:endParaRPr>
          </a:p>
          <a:p>
            <a:pPr lvl="1" marL="5053965" marR="5080" indent="-367030">
              <a:lnSpc>
                <a:spcPct val="100000"/>
              </a:lnSpc>
              <a:spcBef>
                <a:spcPts val="1485"/>
              </a:spcBef>
              <a:buChar char="●"/>
              <a:tabLst>
                <a:tab pos="5053965" algn="l"/>
              </a:tabLst>
            </a:pPr>
            <a:r>
              <a:rPr dirty="0" sz="1800">
                <a:latin typeface="Arial MT"/>
                <a:cs typeface="Arial MT"/>
              </a:rPr>
              <a:t>Homepage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for </a:t>
            </a:r>
            <a:r>
              <a:rPr dirty="0" sz="1800">
                <a:latin typeface="Arial MT"/>
                <a:cs typeface="Arial MT"/>
              </a:rPr>
              <a:t>web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app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325" y="908495"/>
            <a:ext cx="4320549" cy="214473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04262" y="157129"/>
            <a:ext cx="2199005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Result[5]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9800" y="1023900"/>
            <a:ext cx="2344051" cy="265760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11150" y="3704233"/>
            <a:ext cx="2844800" cy="6565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Final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Prototype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of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Sleep </a:t>
            </a:r>
            <a:r>
              <a:rPr dirty="0" sz="1800">
                <a:latin typeface="Arial MT"/>
                <a:cs typeface="Arial MT"/>
              </a:rPr>
              <a:t>Apnea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Monitoring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System.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30824" y="3779308"/>
            <a:ext cx="3239135" cy="9721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 sz="1800">
                <a:latin typeface="Arial MT"/>
                <a:cs typeface="Arial MT"/>
              </a:rPr>
              <a:t>Data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From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the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ESP32-</a:t>
            </a:r>
            <a:r>
              <a:rPr dirty="0" sz="1800" spc="-25">
                <a:latin typeface="Arial MT"/>
                <a:cs typeface="Arial MT"/>
              </a:rPr>
              <a:t>S3 </a:t>
            </a:r>
            <a:r>
              <a:rPr dirty="0" sz="1800">
                <a:latin typeface="Arial MT"/>
                <a:cs typeface="Arial MT"/>
              </a:rPr>
              <a:t>Microcontroller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Received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on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the </a:t>
            </a:r>
            <a:r>
              <a:rPr dirty="0" sz="1800" spc="-10">
                <a:latin typeface="Arial MT"/>
                <a:cs typeface="Arial MT"/>
              </a:rPr>
              <a:t>Server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94705" y="1034787"/>
            <a:ext cx="1610766" cy="2874272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622366" y="403483"/>
            <a:ext cx="2093595" cy="62928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950" spc="-10"/>
              <a:t>Analysis</a:t>
            </a:r>
            <a:endParaRPr sz="3950"/>
          </a:p>
        </p:txBody>
      </p:sp>
      <p:sp>
        <p:nvSpPr>
          <p:cNvPr id="3" name="object 3"/>
          <p:cNvSpPr txBox="1"/>
          <p:nvPr/>
        </p:nvSpPr>
        <p:spPr>
          <a:xfrm>
            <a:off x="384725" y="1161529"/>
            <a:ext cx="8342630" cy="2981960"/>
          </a:xfrm>
          <a:prstGeom prst="rect">
            <a:avLst/>
          </a:prstGeom>
        </p:spPr>
        <p:txBody>
          <a:bodyPr wrap="square" lIns="0" tIns="1543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15"/>
              </a:spcBef>
            </a:pPr>
            <a:r>
              <a:rPr dirty="0" sz="1650" b="1">
                <a:latin typeface="Arial"/>
                <a:cs typeface="Arial"/>
              </a:rPr>
              <a:t>HR</a:t>
            </a:r>
            <a:r>
              <a:rPr dirty="0" sz="1650" spc="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and</a:t>
            </a:r>
            <a:r>
              <a:rPr dirty="0" sz="1650" spc="5" b="1">
                <a:latin typeface="Arial"/>
                <a:cs typeface="Arial"/>
              </a:rPr>
              <a:t> </a:t>
            </a:r>
            <a:r>
              <a:rPr dirty="0" sz="1650" b="1">
                <a:latin typeface="Arial"/>
                <a:cs typeface="Arial"/>
              </a:rPr>
              <a:t>SpO</a:t>
            </a:r>
            <a:r>
              <a:rPr dirty="0" sz="1650">
                <a:latin typeface="MS PGothic"/>
                <a:cs typeface="MS PGothic"/>
              </a:rPr>
              <a:t>₂</a:t>
            </a:r>
            <a:r>
              <a:rPr dirty="0" sz="1650" spc="10">
                <a:latin typeface="MS PGothic"/>
                <a:cs typeface="MS PGothic"/>
              </a:rPr>
              <a:t> </a:t>
            </a:r>
            <a:r>
              <a:rPr dirty="0" sz="1650" b="1">
                <a:latin typeface="Arial"/>
                <a:cs typeface="Arial"/>
              </a:rPr>
              <a:t>Data</a:t>
            </a:r>
            <a:r>
              <a:rPr dirty="0" sz="1650" spc="-55" b="1">
                <a:latin typeface="Arial"/>
                <a:cs typeface="Arial"/>
              </a:rPr>
              <a:t> </a:t>
            </a:r>
            <a:r>
              <a:rPr dirty="0" sz="1650" spc="-10" b="1">
                <a:latin typeface="Arial"/>
                <a:cs typeface="Arial"/>
              </a:rPr>
              <a:t>Analysis:</a:t>
            </a:r>
            <a:endParaRPr sz="1650">
              <a:latin typeface="Arial"/>
              <a:cs typeface="Arial"/>
            </a:endParaRPr>
          </a:p>
          <a:p>
            <a:pPr marL="469265" indent="-339090">
              <a:lnSpc>
                <a:spcPct val="100000"/>
              </a:lnSpc>
              <a:spcBef>
                <a:spcPts val="1115"/>
              </a:spcBef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Sensor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detects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beats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and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SpO</a:t>
            </a:r>
            <a:r>
              <a:rPr dirty="0" sz="1650">
                <a:latin typeface="MS PGothic"/>
                <a:cs typeface="MS PGothic"/>
              </a:rPr>
              <a:t>₂</a:t>
            </a:r>
            <a:r>
              <a:rPr dirty="0" sz="1650" spc="-20">
                <a:latin typeface="MS PGothic"/>
                <a:cs typeface="MS PGothic"/>
              </a:rPr>
              <a:t> </a:t>
            </a:r>
            <a:r>
              <a:rPr dirty="0" sz="1650">
                <a:latin typeface="Arial MT"/>
                <a:cs typeface="Arial MT"/>
              </a:rPr>
              <a:t>reliably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once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finger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placed.</a:t>
            </a:r>
            <a:endParaRPr sz="1650">
              <a:latin typeface="Arial MT"/>
              <a:cs typeface="Arial MT"/>
            </a:endParaRPr>
          </a:p>
          <a:p>
            <a:pPr marL="469265" indent="-339090">
              <a:lnSpc>
                <a:spcPct val="100000"/>
              </a:lnSpc>
              <a:spcBef>
                <a:spcPts val="1820"/>
              </a:spcBef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Beat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intervals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remained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consistent,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while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initial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SpO</a:t>
            </a:r>
            <a:r>
              <a:rPr dirty="0" sz="1650">
                <a:latin typeface="MS PGothic"/>
                <a:cs typeface="MS PGothic"/>
              </a:rPr>
              <a:t>₂</a:t>
            </a:r>
            <a:r>
              <a:rPr dirty="0" sz="1650" spc="-25">
                <a:latin typeface="MS PGothic"/>
                <a:cs typeface="MS PGothic"/>
              </a:rPr>
              <a:t> </a:t>
            </a:r>
            <a:r>
              <a:rPr dirty="0" sz="1650">
                <a:latin typeface="Arial MT"/>
                <a:cs typeface="Arial MT"/>
              </a:rPr>
              <a:t>dips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reflected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baseline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settling.</a:t>
            </a:r>
            <a:endParaRPr sz="1650">
              <a:latin typeface="Arial MT"/>
              <a:cs typeface="Arial MT"/>
            </a:endParaRPr>
          </a:p>
          <a:p>
            <a:pPr marL="469265" indent="-339090">
              <a:lnSpc>
                <a:spcPct val="100000"/>
              </a:lnSpc>
              <a:spcBef>
                <a:spcPts val="1814"/>
              </a:spcBef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Mean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SpO</a:t>
            </a:r>
            <a:r>
              <a:rPr dirty="0" sz="1650">
                <a:latin typeface="MS PGothic"/>
                <a:cs typeface="MS PGothic"/>
              </a:rPr>
              <a:t>₂</a:t>
            </a:r>
            <a:r>
              <a:rPr dirty="0" sz="1650" spc="-20">
                <a:latin typeface="MS PGothic"/>
                <a:cs typeface="MS PGothic"/>
              </a:rPr>
              <a:t> </a:t>
            </a:r>
            <a:r>
              <a:rPr dirty="0" sz="1650">
                <a:latin typeface="Arial MT"/>
                <a:cs typeface="Arial MT"/>
              </a:rPr>
              <a:t>measured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99.5%,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consistently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above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95%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clinical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threshold.</a:t>
            </a:r>
            <a:endParaRPr sz="1650">
              <a:latin typeface="Arial MT"/>
              <a:cs typeface="Arial MT"/>
            </a:endParaRPr>
          </a:p>
          <a:p>
            <a:pPr marL="469265" indent="-339090">
              <a:lnSpc>
                <a:spcPct val="100000"/>
              </a:lnSpc>
              <a:spcBef>
                <a:spcPts val="1814"/>
              </a:spcBef>
              <a:buChar char="●"/>
              <a:tabLst>
                <a:tab pos="469265" algn="l"/>
              </a:tabLst>
            </a:pPr>
            <a:r>
              <a:rPr dirty="0" sz="1650">
                <a:latin typeface="Arial MT"/>
                <a:cs typeface="Arial MT"/>
              </a:rPr>
              <a:t>Median</a:t>
            </a:r>
            <a:r>
              <a:rPr dirty="0" sz="1650" spc="1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heart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rate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stabilized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at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≈69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BPM,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reflecting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normal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resting</a:t>
            </a:r>
            <a:r>
              <a:rPr dirty="0" sz="1650" spc="1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physiology.</a:t>
            </a:r>
            <a:endParaRPr sz="16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●"/>
            </a:pPr>
            <a:endParaRPr sz="1650">
              <a:latin typeface="Arial MT"/>
              <a:cs typeface="Arial MT"/>
            </a:endParaRPr>
          </a:p>
          <a:p>
            <a:pPr marL="469900" marR="130175" indent="-339725">
              <a:lnSpc>
                <a:spcPts val="1900"/>
              </a:lnSpc>
              <a:buChar char="●"/>
              <a:tabLst>
                <a:tab pos="469900" algn="l"/>
              </a:tabLst>
            </a:pPr>
            <a:r>
              <a:rPr dirty="0" sz="1650">
                <a:latin typeface="Arial MT"/>
                <a:cs typeface="Arial MT"/>
              </a:rPr>
              <a:t>Measurements</a:t>
            </a:r>
            <a:r>
              <a:rPr dirty="0" sz="1650" spc="2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are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continuously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logged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a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CSV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file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stored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in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the</a:t>
            </a:r>
            <a:r>
              <a:rPr dirty="0" sz="1650" spc="30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microcontroller’s </a:t>
            </a:r>
            <a:r>
              <a:rPr dirty="0" sz="1650">
                <a:latin typeface="Arial MT"/>
                <a:cs typeface="Arial MT"/>
              </a:rPr>
              <a:t>flash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memory,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ensuring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no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data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loss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if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Wi-</a:t>
            </a:r>
            <a:r>
              <a:rPr dirty="0" sz="1650">
                <a:latin typeface="Arial MT"/>
                <a:cs typeface="Arial MT"/>
              </a:rPr>
              <a:t>Fi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>
                <a:latin typeface="Arial MT"/>
                <a:cs typeface="Arial MT"/>
              </a:rPr>
              <a:t>is</a:t>
            </a:r>
            <a:r>
              <a:rPr dirty="0" sz="1650" spc="5">
                <a:latin typeface="Arial MT"/>
                <a:cs typeface="Arial MT"/>
              </a:rPr>
              <a:t> </a:t>
            </a:r>
            <a:r>
              <a:rPr dirty="0" sz="1650" spc="-10">
                <a:latin typeface="Arial MT"/>
                <a:cs typeface="Arial MT"/>
              </a:rPr>
              <a:t>unavailable</a:t>
            </a:r>
            <a:endParaRPr sz="16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762" rIns="0" bIns="0" rtlCol="0" vert="horz">
            <a:spAutoFit/>
          </a:bodyPr>
          <a:lstStyle/>
          <a:p>
            <a:pPr marL="520065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dirty="0" spc="-30"/>
              <a:t> </a:t>
            </a:r>
            <a:r>
              <a:rPr dirty="0" spc="-10"/>
              <a:t>Enhancements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438069"/>
            <a:ext cx="8256270" cy="2829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SzPct val="90000"/>
              <a:buChar char="●"/>
              <a:tabLst>
                <a:tab pos="379095" algn="l"/>
              </a:tabLst>
            </a:pPr>
            <a:r>
              <a:rPr dirty="0" sz="2000" spc="-10">
                <a:latin typeface="Arial MT"/>
                <a:cs typeface="Arial MT"/>
              </a:rPr>
              <a:t>Train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larger,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multi-center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datasets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across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diverse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age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groups,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body </a:t>
            </a:r>
            <a:r>
              <a:rPr dirty="0" sz="2000">
                <a:latin typeface="Arial MT"/>
                <a:cs typeface="Arial MT"/>
              </a:rPr>
              <a:t>types,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severities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improve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real-</a:t>
            </a:r>
            <a:r>
              <a:rPr dirty="0" sz="2000">
                <a:latin typeface="Arial MT"/>
                <a:cs typeface="Arial MT"/>
              </a:rPr>
              <a:t>world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reliability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and </a:t>
            </a:r>
            <a:r>
              <a:rPr dirty="0" sz="2000" spc="-20">
                <a:latin typeface="Arial MT"/>
                <a:cs typeface="Arial MT"/>
              </a:rPr>
              <a:t>population-</a:t>
            </a:r>
            <a:r>
              <a:rPr dirty="0" sz="2000">
                <a:latin typeface="Arial MT"/>
                <a:cs typeface="Arial MT"/>
              </a:rPr>
              <a:t>level</a:t>
            </a:r>
            <a:r>
              <a:rPr dirty="0" sz="2000" spc="-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generalization</a:t>
            </a:r>
            <a:endParaRPr sz="2000">
              <a:latin typeface="Arial MT"/>
              <a:cs typeface="Arial MT"/>
            </a:endParaRPr>
          </a:p>
          <a:p>
            <a:pPr marL="379095" marR="107950" indent="-367030">
              <a:lnSpc>
                <a:spcPct val="114999"/>
              </a:lnSpc>
              <a:buSzPct val="90000"/>
              <a:buChar char="●"/>
              <a:tabLst>
                <a:tab pos="379095" algn="l"/>
              </a:tabLst>
            </a:pPr>
            <a:r>
              <a:rPr dirty="0" sz="2000">
                <a:latin typeface="Arial MT"/>
                <a:cs typeface="Arial MT"/>
              </a:rPr>
              <a:t>Replace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window-</a:t>
            </a:r>
            <a:r>
              <a:rPr dirty="0" sz="2000" spc="-10">
                <a:latin typeface="Arial MT"/>
                <a:cs typeface="Arial MT"/>
              </a:rPr>
              <a:t>independent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Random</a:t>
            </a:r>
            <a:r>
              <a:rPr dirty="0" sz="2000" spc="-5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Forest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with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sequential </a:t>
            </a:r>
            <a:r>
              <a:rPr dirty="0" sz="2000">
                <a:latin typeface="Arial MT"/>
                <a:cs typeface="Arial MT"/>
              </a:rPr>
              <a:t>models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capture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long-term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apnea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patterns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improve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event</a:t>
            </a:r>
            <a:r>
              <a:rPr dirty="0" sz="2000" spc="-3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recall</a:t>
            </a:r>
            <a:endParaRPr sz="2000">
              <a:latin typeface="Arial MT"/>
              <a:cs typeface="Arial MT"/>
            </a:endParaRPr>
          </a:p>
          <a:p>
            <a:pPr marL="379095" marR="50800" indent="-367030">
              <a:lnSpc>
                <a:spcPct val="114999"/>
              </a:lnSpc>
              <a:buSzPct val="90000"/>
              <a:buChar char="●"/>
              <a:tabLst>
                <a:tab pos="379095" algn="l"/>
              </a:tabLst>
            </a:pPr>
            <a:r>
              <a:rPr dirty="0" sz="2000">
                <a:latin typeface="Arial MT"/>
                <a:cs typeface="Arial MT"/>
              </a:rPr>
              <a:t>Deploy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ML</a:t>
            </a:r>
            <a:r>
              <a:rPr dirty="0" sz="2000" spc="-11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model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directly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on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the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5">
                <a:latin typeface="Arial MT"/>
                <a:cs typeface="Arial MT"/>
              </a:rPr>
              <a:t>ESP32-</a:t>
            </a:r>
            <a:r>
              <a:rPr dirty="0" sz="2000">
                <a:latin typeface="Arial MT"/>
                <a:cs typeface="Arial MT"/>
              </a:rPr>
              <a:t>S3</a:t>
            </a:r>
            <a:r>
              <a:rPr dirty="0" sz="2000" spc="-4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using</a:t>
            </a:r>
            <a:r>
              <a:rPr dirty="0" sz="2000" spc="-75">
                <a:latin typeface="Arial MT"/>
                <a:cs typeface="Arial MT"/>
              </a:rPr>
              <a:t> </a:t>
            </a:r>
            <a:r>
              <a:rPr dirty="0" sz="2000" spc="-30">
                <a:latin typeface="Arial MT"/>
                <a:cs typeface="Arial MT"/>
              </a:rPr>
              <a:t>TensorFlow</a:t>
            </a:r>
            <a:r>
              <a:rPr dirty="0" sz="2000" spc="-40">
                <a:latin typeface="Arial MT"/>
                <a:cs typeface="Arial MT"/>
              </a:rPr>
              <a:t> </a:t>
            </a:r>
            <a:r>
              <a:rPr dirty="0" sz="2000" spc="-20">
                <a:latin typeface="Arial MT"/>
                <a:cs typeface="Arial MT"/>
              </a:rPr>
              <a:t>Lite </a:t>
            </a:r>
            <a:r>
              <a:rPr dirty="0" sz="2000">
                <a:latin typeface="Arial MT"/>
                <a:cs typeface="Arial MT"/>
              </a:rPr>
              <a:t>to</a:t>
            </a:r>
            <a:r>
              <a:rPr dirty="0" sz="2000" spc="-60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eliminate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server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dependency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and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>
                <a:latin typeface="Arial MT"/>
                <a:cs typeface="Arial MT"/>
              </a:rPr>
              <a:t>enable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real-</a:t>
            </a:r>
            <a:r>
              <a:rPr dirty="0" sz="2000">
                <a:latin typeface="Arial MT"/>
                <a:cs typeface="Arial MT"/>
              </a:rPr>
              <a:t>time</a:t>
            </a:r>
            <a:r>
              <a:rPr dirty="0" sz="2000" spc="-55">
                <a:latin typeface="Arial MT"/>
                <a:cs typeface="Arial MT"/>
              </a:rPr>
              <a:t> </a:t>
            </a:r>
            <a:r>
              <a:rPr dirty="0" sz="2000" spc="-10">
                <a:latin typeface="Arial MT"/>
                <a:cs typeface="Arial MT"/>
              </a:rPr>
              <a:t>overnight feedback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40762" rIns="0" bIns="0" rtlCol="0" vert="horz">
            <a:spAutoFit/>
          </a:bodyPr>
          <a:lstStyle/>
          <a:p>
            <a:pPr marL="180467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339" y="1486532"/>
            <a:ext cx="8261350" cy="2821305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379095" marR="76835" indent="-367030">
              <a:lnSpc>
                <a:spcPts val="1960"/>
              </a:lnSpc>
              <a:spcBef>
                <a:spcPts val="229"/>
              </a:spcBef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The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proposed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wristband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system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successfully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integrates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PPG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IMU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sensors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on </a:t>
            </a:r>
            <a:r>
              <a:rPr dirty="0" sz="1700" spc="-75">
                <a:latin typeface="Arial MT"/>
                <a:cs typeface="Arial MT"/>
              </a:rPr>
              <a:t>ESP32</a:t>
            </a:r>
            <a:r>
              <a:rPr dirty="0" sz="1700" spc="-75">
                <a:latin typeface="MS PGothic"/>
                <a:cs typeface="MS PGothic"/>
              </a:rPr>
              <a:t>-</a:t>
            </a:r>
            <a:r>
              <a:rPr dirty="0" sz="1700" spc="-25">
                <a:latin typeface="Arial MT"/>
                <a:cs typeface="Arial MT"/>
              </a:rPr>
              <a:t>S3.</a:t>
            </a:r>
            <a:endParaRPr sz="1700">
              <a:latin typeface="Arial MT"/>
              <a:cs typeface="Arial MT"/>
            </a:endParaRPr>
          </a:p>
          <a:p>
            <a:pPr marL="379095" indent="-366395">
              <a:lnSpc>
                <a:spcPts val="1980"/>
              </a:lnSpc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Reliable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acquisition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of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heart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rate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SpO</a:t>
            </a:r>
            <a:r>
              <a:rPr dirty="0" sz="1700">
                <a:latin typeface="MS PGothic"/>
                <a:cs typeface="MS PGothic"/>
              </a:rPr>
              <a:t>₂</a:t>
            </a:r>
            <a:r>
              <a:rPr dirty="0" sz="1700" spc="-105">
                <a:latin typeface="MS PGothic"/>
                <a:cs typeface="MS PGothic"/>
              </a:rPr>
              <a:t> </a:t>
            </a:r>
            <a:r>
              <a:rPr dirty="0" sz="1700">
                <a:latin typeface="Arial MT"/>
                <a:cs typeface="Arial MT"/>
              </a:rPr>
              <a:t>achieved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with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robust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signal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processing.</a:t>
            </a:r>
            <a:endParaRPr sz="1700">
              <a:latin typeface="Arial MT"/>
              <a:cs typeface="Arial MT"/>
            </a:endParaRPr>
          </a:p>
          <a:p>
            <a:pPr marL="379095" marR="451484" indent="-367030">
              <a:lnSpc>
                <a:spcPts val="1960"/>
              </a:lnSpc>
              <a:spcBef>
                <a:spcPts val="145"/>
              </a:spcBef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Motion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artifact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rejection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and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local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storage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ensured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stable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overnight</a:t>
            </a:r>
            <a:r>
              <a:rPr dirty="0" sz="1700" spc="-8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monitoring </a:t>
            </a:r>
            <a:r>
              <a:rPr dirty="0" sz="1700">
                <a:latin typeface="Arial MT"/>
                <a:cs typeface="Arial MT"/>
              </a:rPr>
              <a:t>without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data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loss.</a:t>
            </a:r>
            <a:endParaRPr sz="1700">
              <a:latin typeface="Arial MT"/>
              <a:cs typeface="Arial MT"/>
            </a:endParaRPr>
          </a:p>
          <a:p>
            <a:pPr marL="379095" marR="250190" indent="-367030">
              <a:lnSpc>
                <a:spcPts val="1960"/>
              </a:lnSpc>
              <a:spcBef>
                <a:spcPts val="70"/>
              </a:spcBef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Random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Forest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classifier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delivered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≈83%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0">
                <a:latin typeface="Arial MT"/>
                <a:cs typeface="Arial MT"/>
              </a:rPr>
              <a:t>accuracy,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enabling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dependable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apnea </a:t>
            </a:r>
            <a:r>
              <a:rPr dirty="0" sz="1700">
                <a:latin typeface="Arial MT"/>
                <a:cs typeface="Arial MT"/>
              </a:rPr>
              <a:t>event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detection.</a:t>
            </a:r>
            <a:endParaRPr sz="1700">
              <a:latin typeface="Arial MT"/>
              <a:cs typeface="Arial MT"/>
            </a:endParaRPr>
          </a:p>
          <a:p>
            <a:pPr marL="379095" marR="889635" indent="-367030">
              <a:lnSpc>
                <a:spcPts val="1960"/>
              </a:lnSpc>
              <a:spcBef>
                <a:spcPts val="70"/>
              </a:spcBef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Web</a:t>
            </a:r>
            <a:r>
              <a:rPr dirty="0" sz="1700" spc="-7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dashboard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provides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daily</a:t>
            </a:r>
            <a:r>
              <a:rPr dirty="0" sz="1700" spc="-11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AHI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severity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reports,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supporting</a:t>
            </a:r>
            <a:r>
              <a:rPr dirty="0" sz="1700" spc="-5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affordable </a:t>
            </a:r>
            <a:r>
              <a:rPr dirty="0" sz="1700" spc="-85">
                <a:latin typeface="Arial MT"/>
                <a:cs typeface="Arial MT"/>
              </a:rPr>
              <a:t>home</a:t>
            </a:r>
            <a:r>
              <a:rPr dirty="0" sz="1700" spc="-85">
                <a:latin typeface="MS PGothic"/>
                <a:cs typeface="MS PGothic"/>
              </a:rPr>
              <a:t>-</a:t>
            </a:r>
            <a:r>
              <a:rPr dirty="0" sz="1700">
                <a:latin typeface="Arial MT"/>
                <a:cs typeface="Arial MT"/>
              </a:rPr>
              <a:t>based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sleep</a:t>
            </a:r>
            <a:r>
              <a:rPr dirty="0" sz="1700" spc="-55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screening.</a:t>
            </a:r>
            <a:endParaRPr sz="1700">
              <a:latin typeface="Arial MT"/>
              <a:cs typeface="Arial MT"/>
            </a:endParaRPr>
          </a:p>
          <a:p>
            <a:pPr marL="379095" marR="239395" indent="-367030">
              <a:lnSpc>
                <a:spcPts val="1960"/>
              </a:lnSpc>
              <a:spcBef>
                <a:spcPts val="70"/>
              </a:spcBef>
              <a:buSzPct val="105882"/>
              <a:buChar char="●"/>
              <a:tabLst>
                <a:tab pos="379095" algn="l"/>
              </a:tabLst>
            </a:pPr>
            <a:r>
              <a:rPr dirty="0" sz="1700">
                <a:latin typeface="Arial MT"/>
                <a:cs typeface="Arial MT"/>
              </a:rPr>
              <a:t>Project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demonstrates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a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clinically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relevant,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 spc="-90">
                <a:latin typeface="Arial MT"/>
                <a:cs typeface="Arial MT"/>
              </a:rPr>
              <a:t>low</a:t>
            </a:r>
            <a:r>
              <a:rPr dirty="0" sz="1700" spc="-90">
                <a:latin typeface="MS PGothic"/>
                <a:cs typeface="MS PGothic"/>
              </a:rPr>
              <a:t>-</a:t>
            </a:r>
            <a:r>
              <a:rPr dirty="0" sz="1700">
                <a:latin typeface="Arial MT"/>
                <a:cs typeface="Arial MT"/>
              </a:rPr>
              <a:t>cost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solution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for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early</a:t>
            </a:r>
            <a:r>
              <a:rPr dirty="0" sz="1700" spc="-65">
                <a:latin typeface="Arial MT"/>
                <a:cs typeface="Arial MT"/>
              </a:rPr>
              <a:t> </a:t>
            </a:r>
            <a:r>
              <a:rPr dirty="0" sz="1700">
                <a:latin typeface="Arial MT"/>
                <a:cs typeface="Arial MT"/>
              </a:rPr>
              <a:t>detection</a:t>
            </a:r>
            <a:r>
              <a:rPr dirty="0" sz="1700" spc="-60">
                <a:latin typeface="Arial MT"/>
                <a:cs typeface="Arial MT"/>
              </a:rPr>
              <a:t> </a:t>
            </a:r>
            <a:r>
              <a:rPr dirty="0" sz="1700" spc="-25">
                <a:latin typeface="Arial MT"/>
                <a:cs typeface="Arial MT"/>
              </a:rPr>
              <a:t>of </a:t>
            </a:r>
            <a:r>
              <a:rPr dirty="0" sz="1700">
                <a:latin typeface="Arial MT"/>
                <a:cs typeface="Arial MT"/>
              </a:rPr>
              <a:t>sleep</a:t>
            </a:r>
            <a:r>
              <a:rPr dirty="0" sz="1700" spc="-70">
                <a:latin typeface="Arial MT"/>
                <a:cs typeface="Arial MT"/>
              </a:rPr>
              <a:t> </a:t>
            </a:r>
            <a:r>
              <a:rPr dirty="0" sz="1700" spc="-10">
                <a:latin typeface="Arial MT"/>
                <a:cs typeface="Arial MT"/>
              </a:rPr>
              <a:t>apnea.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326668" y="378586"/>
            <a:ext cx="249047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/>
              <a:t>References</a:t>
            </a:r>
            <a:endParaRPr sz="36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796" rIns="0" bIns="0" rtlCol="0" vert="horz">
            <a:spAutoFit/>
          </a:bodyPr>
          <a:lstStyle/>
          <a:p>
            <a:pPr marL="396240" marR="5080" indent="-372110">
              <a:lnSpc>
                <a:spcPct val="131400"/>
              </a:lnSpc>
              <a:spcBef>
                <a:spcPts val="95"/>
              </a:spcBef>
              <a:buChar char="●"/>
              <a:tabLst>
                <a:tab pos="396875" algn="l"/>
              </a:tabLst>
            </a:pPr>
            <a:r>
              <a:rPr dirty="0" sz="1850"/>
              <a:t>Jing</a:t>
            </a:r>
            <a:r>
              <a:rPr dirty="0" sz="1850" spc="-35"/>
              <a:t> </a:t>
            </a:r>
            <a:r>
              <a:rPr dirty="0" sz="1850" spc="-20"/>
              <a:t>Tao,</a:t>
            </a:r>
            <a:r>
              <a:rPr dirty="0" sz="1850" spc="-5"/>
              <a:t> </a:t>
            </a:r>
            <a:r>
              <a:rPr dirty="0" sz="1850"/>
              <a:t>Beiping Miao,</a:t>
            </a:r>
            <a:r>
              <a:rPr dirty="0" sz="1850" spc="-5"/>
              <a:t> </a:t>
            </a:r>
            <a:r>
              <a:rPr dirty="0" sz="1850"/>
              <a:t>Jingjing Huang,</a:t>
            </a:r>
            <a:r>
              <a:rPr dirty="0" sz="1850" spc="-5"/>
              <a:t> </a:t>
            </a:r>
            <a:r>
              <a:rPr dirty="0" sz="1850"/>
              <a:t>and</a:t>
            </a:r>
            <a:r>
              <a:rPr dirty="0" sz="1850" spc="-5"/>
              <a:t> </a:t>
            </a:r>
            <a:r>
              <a:rPr dirty="0" sz="1850"/>
              <a:t>Long</a:t>
            </a:r>
            <a:r>
              <a:rPr dirty="0" sz="1850" spc="-30"/>
              <a:t> </a:t>
            </a:r>
            <a:r>
              <a:rPr dirty="0" sz="1850"/>
              <a:t>Yang,</a:t>
            </a:r>
            <a:r>
              <a:rPr dirty="0" sz="1850" spc="-5"/>
              <a:t> </a:t>
            </a:r>
            <a:r>
              <a:rPr dirty="0" sz="1850"/>
              <a:t>“A</a:t>
            </a:r>
            <a:r>
              <a:rPr dirty="0" sz="1850" spc="-105"/>
              <a:t> </a:t>
            </a:r>
            <a:r>
              <a:rPr dirty="0" sz="1850" spc="-10"/>
              <a:t>multimodal </a:t>
            </a:r>
            <a:r>
              <a:rPr dirty="0" sz="1850"/>
              <a:t>dataset</a:t>
            </a:r>
            <a:r>
              <a:rPr dirty="0" sz="1850" spc="25"/>
              <a:t> </a:t>
            </a:r>
            <a:r>
              <a:rPr dirty="0" sz="1850"/>
              <a:t>for</a:t>
            </a:r>
            <a:r>
              <a:rPr dirty="0" sz="1850" spc="30"/>
              <a:t> </a:t>
            </a:r>
            <a:r>
              <a:rPr dirty="0" sz="1850"/>
              <a:t>training</a:t>
            </a:r>
            <a:r>
              <a:rPr dirty="0" sz="1850" spc="30"/>
              <a:t> </a:t>
            </a:r>
            <a:r>
              <a:rPr dirty="0" sz="1850"/>
              <a:t>deep</a:t>
            </a:r>
            <a:r>
              <a:rPr dirty="0" sz="1850" spc="30"/>
              <a:t> </a:t>
            </a:r>
            <a:r>
              <a:rPr dirty="0" sz="1850"/>
              <a:t>learning</a:t>
            </a:r>
            <a:r>
              <a:rPr dirty="0" sz="1850" spc="25"/>
              <a:t> </a:t>
            </a:r>
            <a:r>
              <a:rPr dirty="0" sz="1850"/>
              <a:t>models</a:t>
            </a:r>
            <a:r>
              <a:rPr dirty="0" sz="1850" spc="30"/>
              <a:t> </a:t>
            </a:r>
            <a:r>
              <a:rPr dirty="0" sz="1850"/>
              <a:t>aimed</a:t>
            </a:r>
            <a:r>
              <a:rPr dirty="0" sz="1850" spc="30"/>
              <a:t> </a:t>
            </a:r>
            <a:r>
              <a:rPr dirty="0" sz="1850"/>
              <a:t>at</a:t>
            </a:r>
            <a:r>
              <a:rPr dirty="0" sz="1850" spc="30"/>
              <a:t> </a:t>
            </a:r>
            <a:r>
              <a:rPr dirty="0" sz="1850"/>
              <a:t>detecting</a:t>
            </a:r>
            <a:r>
              <a:rPr dirty="0" sz="1850" spc="30"/>
              <a:t> </a:t>
            </a:r>
            <a:r>
              <a:rPr dirty="0" sz="1850"/>
              <a:t>and</a:t>
            </a:r>
            <a:r>
              <a:rPr dirty="0" sz="1850" spc="25"/>
              <a:t> </a:t>
            </a:r>
            <a:r>
              <a:rPr dirty="0" sz="1850" spc="-10"/>
              <a:t>analyzing </a:t>
            </a:r>
            <a:r>
              <a:rPr dirty="0" sz="1850"/>
              <a:t>sleep</a:t>
            </a:r>
            <a:r>
              <a:rPr dirty="0" sz="1850" spc="30"/>
              <a:t> </a:t>
            </a:r>
            <a:r>
              <a:rPr dirty="0" sz="1850"/>
              <a:t>apnea.”</a:t>
            </a:r>
            <a:r>
              <a:rPr dirty="0" sz="1850" spc="30"/>
              <a:t> </a:t>
            </a:r>
            <a:r>
              <a:rPr dirty="0" sz="1850"/>
              <a:t>Science</a:t>
            </a:r>
            <a:r>
              <a:rPr dirty="0" sz="1850" spc="30"/>
              <a:t> </a:t>
            </a:r>
            <a:r>
              <a:rPr dirty="0" sz="1850"/>
              <a:t>Data</a:t>
            </a:r>
            <a:r>
              <a:rPr dirty="0" sz="1850" spc="30"/>
              <a:t> </a:t>
            </a:r>
            <a:r>
              <a:rPr dirty="0" sz="1850"/>
              <a:t>Bank,</a:t>
            </a:r>
            <a:r>
              <a:rPr dirty="0" sz="1850" spc="30"/>
              <a:t> </a:t>
            </a:r>
            <a:r>
              <a:rPr dirty="0" sz="1850"/>
              <a:t>Jun.</a:t>
            </a:r>
            <a:r>
              <a:rPr dirty="0" sz="1850" spc="30"/>
              <a:t> </a:t>
            </a:r>
            <a:r>
              <a:rPr dirty="0" sz="1850"/>
              <a:t>20,</a:t>
            </a:r>
            <a:r>
              <a:rPr dirty="0" sz="1850" spc="30"/>
              <a:t> </a:t>
            </a:r>
            <a:r>
              <a:rPr dirty="0" sz="1850"/>
              <a:t>2025</a:t>
            </a:r>
            <a:r>
              <a:rPr dirty="0" sz="1850" spc="30"/>
              <a:t> </a:t>
            </a:r>
            <a:r>
              <a:rPr dirty="0" sz="1850"/>
              <a:t>[Online].</a:t>
            </a:r>
            <a:r>
              <a:rPr dirty="0" sz="1850" spc="-85"/>
              <a:t> </a:t>
            </a:r>
            <a:r>
              <a:rPr dirty="0" sz="1850" spc="-10"/>
              <a:t>Available: </a:t>
            </a:r>
            <a:r>
              <a:rPr dirty="0" sz="1850">
                <a:hlinkClick r:id="rId2"/>
              </a:rPr>
              <a:t>https://doi.org/10.57760/sciencedb.19070</a:t>
            </a:r>
            <a:r>
              <a:rPr dirty="0" sz="1850"/>
              <a:t>.</a:t>
            </a:r>
            <a:r>
              <a:rPr dirty="0" sz="1850" spc="55"/>
              <a:t> </a:t>
            </a:r>
            <a:r>
              <a:rPr dirty="0" sz="1850"/>
              <a:t>[Accessed:</a:t>
            </a:r>
            <a:r>
              <a:rPr dirty="0" sz="1850" spc="55"/>
              <a:t> </a:t>
            </a:r>
            <a:r>
              <a:rPr dirty="0" sz="1850"/>
              <a:t>Feb.</a:t>
            </a:r>
            <a:r>
              <a:rPr dirty="0" sz="1850" spc="55"/>
              <a:t> </a:t>
            </a:r>
            <a:r>
              <a:rPr dirty="0" sz="1850"/>
              <a:t>07,</a:t>
            </a:r>
            <a:r>
              <a:rPr dirty="0" sz="1850" spc="60"/>
              <a:t> </a:t>
            </a:r>
            <a:r>
              <a:rPr dirty="0" sz="1850" spc="-10"/>
              <a:t>2026]</a:t>
            </a:r>
            <a:endParaRPr sz="1850"/>
          </a:p>
          <a:p>
            <a:pPr marL="396240" marR="495300" indent="-372110">
              <a:lnSpc>
                <a:spcPct val="131400"/>
              </a:lnSpc>
              <a:spcBef>
                <a:spcPts val="1000"/>
              </a:spcBef>
              <a:buChar char="●"/>
              <a:tabLst>
                <a:tab pos="396875" algn="l"/>
              </a:tabLst>
            </a:pPr>
            <a:r>
              <a:rPr dirty="0" sz="1850"/>
              <a:t>A.</a:t>
            </a:r>
            <a:r>
              <a:rPr dirty="0" sz="1850" spc="20"/>
              <a:t> </a:t>
            </a:r>
            <a:r>
              <a:rPr dirty="0" sz="1850"/>
              <a:t>Benjafield</a:t>
            </a:r>
            <a:r>
              <a:rPr dirty="0" sz="1850" spc="20"/>
              <a:t> </a:t>
            </a:r>
            <a:r>
              <a:rPr dirty="0" sz="1850"/>
              <a:t>et</a:t>
            </a:r>
            <a:r>
              <a:rPr dirty="0" sz="1850" spc="25"/>
              <a:t> </a:t>
            </a:r>
            <a:r>
              <a:rPr dirty="0" sz="1850"/>
              <a:t>al.,</a:t>
            </a:r>
            <a:r>
              <a:rPr dirty="0" sz="1850" spc="20"/>
              <a:t> </a:t>
            </a:r>
            <a:r>
              <a:rPr dirty="0" sz="1850"/>
              <a:t>”Estimation</a:t>
            </a:r>
            <a:r>
              <a:rPr dirty="0" sz="1850" spc="25"/>
              <a:t> </a:t>
            </a:r>
            <a:r>
              <a:rPr dirty="0" sz="1850"/>
              <a:t>of</a:t>
            </a:r>
            <a:r>
              <a:rPr dirty="0" sz="1850" spc="20"/>
              <a:t> </a:t>
            </a:r>
            <a:r>
              <a:rPr dirty="0" sz="1850"/>
              <a:t>the</a:t>
            </a:r>
            <a:r>
              <a:rPr dirty="0" sz="1850" spc="20"/>
              <a:t> </a:t>
            </a:r>
            <a:r>
              <a:rPr dirty="0" sz="1850"/>
              <a:t>global</a:t>
            </a:r>
            <a:r>
              <a:rPr dirty="0" sz="1850" spc="25"/>
              <a:t> </a:t>
            </a:r>
            <a:r>
              <a:rPr dirty="0" sz="1850"/>
              <a:t>prevalence</a:t>
            </a:r>
            <a:r>
              <a:rPr dirty="0" sz="1850" spc="20"/>
              <a:t> </a:t>
            </a:r>
            <a:r>
              <a:rPr dirty="0" sz="1850"/>
              <a:t>and</a:t>
            </a:r>
            <a:r>
              <a:rPr dirty="0" sz="1850" spc="25"/>
              <a:t> </a:t>
            </a:r>
            <a:r>
              <a:rPr dirty="0" sz="1850"/>
              <a:t>burden</a:t>
            </a:r>
            <a:r>
              <a:rPr dirty="0" sz="1850" spc="20"/>
              <a:t> </a:t>
            </a:r>
            <a:r>
              <a:rPr dirty="0" sz="1850" spc="-25"/>
              <a:t>of </a:t>
            </a:r>
            <a:r>
              <a:rPr dirty="0" sz="1850"/>
              <a:t>obstructive</a:t>
            </a:r>
            <a:r>
              <a:rPr dirty="0" sz="1850" spc="35"/>
              <a:t> </a:t>
            </a:r>
            <a:r>
              <a:rPr dirty="0" sz="1850"/>
              <a:t>sleep</a:t>
            </a:r>
            <a:r>
              <a:rPr dirty="0" sz="1850" spc="40"/>
              <a:t> </a:t>
            </a:r>
            <a:r>
              <a:rPr dirty="0" sz="1850"/>
              <a:t>apnoea:</a:t>
            </a:r>
            <a:r>
              <a:rPr dirty="0" sz="1850" spc="40"/>
              <a:t> </a:t>
            </a:r>
            <a:r>
              <a:rPr dirty="0" sz="1850"/>
              <a:t>a</a:t>
            </a:r>
            <a:r>
              <a:rPr dirty="0" sz="1850" spc="40"/>
              <a:t> </a:t>
            </a:r>
            <a:r>
              <a:rPr dirty="0" sz="1850"/>
              <a:t>literature-based</a:t>
            </a:r>
            <a:r>
              <a:rPr dirty="0" sz="1850" spc="35"/>
              <a:t> </a:t>
            </a:r>
            <a:r>
              <a:rPr dirty="0" sz="1850"/>
              <a:t>analysis,”</a:t>
            </a:r>
            <a:r>
              <a:rPr dirty="0" sz="1850" spc="40"/>
              <a:t> </a:t>
            </a:r>
            <a:r>
              <a:rPr dirty="0" sz="1850"/>
              <a:t>Lancet</a:t>
            </a:r>
            <a:r>
              <a:rPr dirty="0" sz="1850" spc="40"/>
              <a:t> </a:t>
            </a:r>
            <a:r>
              <a:rPr dirty="0" sz="1850" spc="-10"/>
              <a:t>Respir. </a:t>
            </a:r>
            <a:r>
              <a:rPr dirty="0" sz="1850"/>
              <a:t>Med.,</a:t>
            </a:r>
            <a:r>
              <a:rPr dirty="0" sz="1850" spc="15"/>
              <a:t> </a:t>
            </a:r>
            <a:r>
              <a:rPr dirty="0" sz="1850"/>
              <a:t>vol.</a:t>
            </a:r>
            <a:r>
              <a:rPr dirty="0" sz="1850" spc="20"/>
              <a:t> </a:t>
            </a:r>
            <a:r>
              <a:rPr dirty="0" sz="1850"/>
              <a:t>7,</a:t>
            </a:r>
            <a:r>
              <a:rPr dirty="0" sz="1850" spc="20"/>
              <a:t> </a:t>
            </a:r>
            <a:r>
              <a:rPr dirty="0" sz="1850"/>
              <a:t>no.</a:t>
            </a:r>
            <a:r>
              <a:rPr dirty="0" sz="1850" spc="20"/>
              <a:t> </a:t>
            </a:r>
            <a:r>
              <a:rPr dirty="0" sz="1850"/>
              <a:t>8,</a:t>
            </a:r>
            <a:r>
              <a:rPr dirty="0" sz="1850" spc="20"/>
              <a:t> </a:t>
            </a:r>
            <a:r>
              <a:rPr dirty="0" sz="1850"/>
              <a:t>pp.</a:t>
            </a:r>
            <a:r>
              <a:rPr dirty="0" sz="1850" spc="15"/>
              <a:t> </a:t>
            </a:r>
            <a:r>
              <a:rPr dirty="0" sz="1850"/>
              <a:t>687–698,</a:t>
            </a:r>
            <a:r>
              <a:rPr dirty="0" sz="1850" spc="20"/>
              <a:t> </a:t>
            </a:r>
            <a:r>
              <a:rPr dirty="0" sz="1850" spc="-20"/>
              <a:t>2019</a:t>
            </a:r>
            <a:endParaRPr sz="185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3/23/2026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 spc="-25"/>
              <a:t>24</a:t>
            </a:fld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667359" y="368040"/>
            <a:ext cx="393509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200" spc="-10"/>
              <a:t>References(Contd..)</a:t>
            </a:r>
            <a:endParaRPr sz="320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396875" marR="5080" indent="-384810">
              <a:lnSpc>
                <a:spcPct val="132300"/>
              </a:lnSpc>
              <a:spcBef>
                <a:spcPts val="90"/>
              </a:spcBef>
              <a:buChar char="●"/>
              <a:tabLst>
                <a:tab pos="396875" algn="l"/>
              </a:tabLst>
            </a:pPr>
            <a:r>
              <a:rPr dirty="0"/>
              <a:t>G.</a:t>
            </a:r>
            <a:r>
              <a:rPr dirty="0" spc="35"/>
              <a:t> </a:t>
            </a:r>
            <a:r>
              <a:rPr dirty="0"/>
              <a:t>B.</a:t>
            </a:r>
            <a:r>
              <a:rPr dirty="0" spc="35"/>
              <a:t> </a:t>
            </a:r>
            <a:r>
              <a:rPr dirty="0"/>
              <a:t>Papini</a:t>
            </a:r>
            <a:r>
              <a:rPr dirty="0" spc="35"/>
              <a:t> </a:t>
            </a:r>
            <a:r>
              <a:rPr dirty="0"/>
              <a:t>et</a:t>
            </a:r>
            <a:r>
              <a:rPr dirty="0" spc="30"/>
              <a:t> </a:t>
            </a:r>
            <a:r>
              <a:rPr dirty="0"/>
              <a:t>al.,</a:t>
            </a:r>
            <a:r>
              <a:rPr dirty="0" spc="35"/>
              <a:t> </a:t>
            </a:r>
            <a:r>
              <a:rPr dirty="0"/>
              <a:t>”Wearable</a:t>
            </a:r>
            <a:r>
              <a:rPr dirty="0" spc="35"/>
              <a:t> </a:t>
            </a:r>
            <a:r>
              <a:rPr dirty="0"/>
              <a:t>monitoring</a:t>
            </a:r>
            <a:r>
              <a:rPr dirty="0" spc="35"/>
              <a:t> </a:t>
            </a:r>
            <a:r>
              <a:rPr dirty="0"/>
              <a:t>of</a:t>
            </a:r>
            <a:r>
              <a:rPr dirty="0" spc="35"/>
              <a:t> </a:t>
            </a:r>
            <a:r>
              <a:rPr dirty="0"/>
              <a:t>sleep-</a:t>
            </a:r>
            <a:r>
              <a:rPr dirty="0" spc="-10"/>
              <a:t>disordered </a:t>
            </a:r>
            <a:r>
              <a:rPr dirty="0"/>
              <a:t>breathing:</a:t>
            </a:r>
            <a:r>
              <a:rPr dirty="0" spc="50"/>
              <a:t> </a:t>
            </a:r>
            <a:r>
              <a:rPr dirty="0"/>
              <a:t>estimation</a:t>
            </a:r>
            <a:r>
              <a:rPr dirty="0" spc="50"/>
              <a:t> </a:t>
            </a:r>
            <a:r>
              <a:rPr dirty="0"/>
              <a:t>of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50"/>
              <a:t> </a:t>
            </a:r>
            <a:r>
              <a:rPr dirty="0"/>
              <a:t>apnea–hypopnea</a:t>
            </a:r>
            <a:r>
              <a:rPr dirty="0" spc="50"/>
              <a:t> </a:t>
            </a:r>
            <a:r>
              <a:rPr dirty="0"/>
              <a:t>index</a:t>
            </a:r>
            <a:r>
              <a:rPr dirty="0" spc="50"/>
              <a:t> </a:t>
            </a:r>
            <a:r>
              <a:rPr dirty="0"/>
              <a:t>using</a:t>
            </a:r>
            <a:r>
              <a:rPr dirty="0" spc="50"/>
              <a:t> </a:t>
            </a:r>
            <a:r>
              <a:rPr dirty="0"/>
              <a:t>wrist-</a:t>
            </a:r>
            <a:r>
              <a:rPr dirty="0" spc="-20"/>
              <a:t>worn </a:t>
            </a:r>
            <a:r>
              <a:rPr dirty="0"/>
              <a:t>reflective</a:t>
            </a:r>
            <a:r>
              <a:rPr dirty="0" spc="35"/>
              <a:t> </a:t>
            </a:r>
            <a:r>
              <a:rPr dirty="0"/>
              <a:t>photoplethysmography,”</a:t>
            </a:r>
            <a:r>
              <a:rPr dirty="0" spc="35"/>
              <a:t> </a:t>
            </a:r>
            <a:r>
              <a:rPr dirty="0"/>
              <a:t>Sci.</a:t>
            </a:r>
            <a:r>
              <a:rPr dirty="0" spc="40"/>
              <a:t> </a:t>
            </a:r>
            <a:r>
              <a:rPr dirty="0"/>
              <a:t>Rep.,</a:t>
            </a:r>
            <a:r>
              <a:rPr dirty="0" spc="35"/>
              <a:t> </a:t>
            </a:r>
            <a:r>
              <a:rPr dirty="0"/>
              <a:t>vol.</a:t>
            </a:r>
            <a:r>
              <a:rPr dirty="0" spc="40"/>
              <a:t> </a:t>
            </a:r>
            <a:r>
              <a:rPr dirty="0"/>
              <a:t>10,</a:t>
            </a:r>
            <a:r>
              <a:rPr dirty="0" spc="35"/>
              <a:t> </a:t>
            </a:r>
            <a:r>
              <a:rPr dirty="0"/>
              <a:t>p.</a:t>
            </a:r>
            <a:r>
              <a:rPr dirty="0" spc="40"/>
              <a:t> </a:t>
            </a:r>
            <a:r>
              <a:rPr dirty="0"/>
              <a:t>13512,</a:t>
            </a:r>
            <a:r>
              <a:rPr dirty="0" spc="-85"/>
              <a:t> </a:t>
            </a:r>
            <a:r>
              <a:rPr dirty="0" spc="-20"/>
              <a:t>Aug. 2020</a:t>
            </a:r>
          </a:p>
          <a:p>
            <a:pPr marL="396875" marR="106045" indent="-384810">
              <a:lnSpc>
                <a:spcPct val="132300"/>
              </a:lnSpc>
              <a:buChar char="●"/>
              <a:tabLst>
                <a:tab pos="396875" algn="l"/>
              </a:tabLst>
            </a:pPr>
            <a:r>
              <a:rPr dirty="0"/>
              <a:t>J.</a:t>
            </a:r>
            <a:r>
              <a:rPr dirty="0" spc="50"/>
              <a:t> </a:t>
            </a:r>
            <a:r>
              <a:rPr dirty="0"/>
              <a:t>M.</a:t>
            </a:r>
            <a:r>
              <a:rPr dirty="0" spc="55"/>
              <a:t> </a:t>
            </a:r>
            <a:r>
              <a:rPr dirty="0"/>
              <a:t>Marin</a:t>
            </a:r>
            <a:r>
              <a:rPr dirty="0" spc="55"/>
              <a:t> </a:t>
            </a:r>
            <a:r>
              <a:rPr dirty="0"/>
              <a:t>et</a:t>
            </a:r>
            <a:r>
              <a:rPr dirty="0" spc="55"/>
              <a:t> </a:t>
            </a:r>
            <a:r>
              <a:rPr dirty="0"/>
              <a:t>al.,</a:t>
            </a:r>
            <a:r>
              <a:rPr dirty="0" spc="50"/>
              <a:t> </a:t>
            </a:r>
            <a:r>
              <a:rPr dirty="0"/>
              <a:t>”Long-term</a:t>
            </a:r>
            <a:r>
              <a:rPr dirty="0" spc="55"/>
              <a:t> </a:t>
            </a:r>
            <a:r>
              <a:rPr dirty="0"/>
              <a:t>cardiovascular</a:t>
            </a:r>
            <a:r>
              <a:rPr dirty="0" spc="55"/>
              <a:t> </a:t>
            </a:r>
            <a:r>
              <a:rPr dirty="0"/>
              <a:t>outcomes</a:t>
            </a:r>
            <a:r>
              <a:rPr dirty="0" spc="55"/>
              <a:t> </a:t>
            </a:r>
            <a:r>
              <a:rPr dirty="0"/>
              <a:t>in</a:t>
            </a:r>
            <a:r>
              <a:rPr dirty="0" spc="50"/>
              <a:t> </a:t>
            </a:r>
            <a:r>
              <a:rPr dirty="0"/>
              <a:t>men</a:t>
            </a:r>
            <a:r>
              <a:rPr dirty="0" spc="55"/>
              <a:t> </a:t>
            </a:r>
            <a:r>
              <a:rPr dirty="0" spc="-20"/>
              <a:t>with </a:t>
            </a:r>
            <a:r>
              <a:rPr dirty="0"/>
              <a:t>obstructive</a:t>
            </a:r>
            <a:r>
              <a:rPr dirty="0" spc="55"/>
              <a:t> </a:t>
            </a:r>
            <a:r>
              <a:rPr dirty="0"/>
              <a:t>sleep</a:t>
            </a:r>
            <a:r>
              <a:rPr dirty="0" spc="60"/>
              <a:t> </a:t>
            </a:r>
            <a:r>
              <a:rPr dirty="0"/>
              <a:t>apnoea–hypopnoea</a:t>
            </a:r>
            <a:r>
              <a:rPr dirty="0" spc="60"/>
              <a:t> </a:t>
            </a:r>
            <a:r>
              <a:rPr dirty="0"/>
              <a:t>with</a:t>
            </a:r>
            <a:r>
              <a:rPr dirty="0" spc="60"/>
              <a:t> </a:t>
            </a:r>
            <a:r>
              <a:rPr dirty="0"/>
              <a:t>or</a:t>
            </a:r>
            <a:r>
              <a:rPr dirty="0" spc="55"/>
              <a:t> </a:t>
            </a:r>
            <a:r>
              <a:rPr dirty="0"/>
              <a:t>without</a:t>
            </a:r>
            <a:r>
              <a:rPr dirty="0" spc="60"/>
              <a:t> </a:t>
            </a:r>
            <a:r>
              <a:rPr dirty="0"/>
              <a:t>treatment</a:t>
            </a:r>
            <a:r>
              <a:rPr dirty="0" spc="60"/>
              <a:t> </a:t>
            </a:r>
            <a:r>
              <a:rPr dirty="0" spc="-20"/>
              <a:t>with </a:t>
            </a:r>
            <a:r>
              <a:rPr dirty="0"/>
              <a:t>CPAP:</a:t>
            </a:r>
            <a:r>
              <a:rPr dirty="0" spc="5"/>
              <a:t> </a:t>
            </a:r>
            <a:r>
              <a:rPr dirty="0"/>
              <a:t>an</a:t>
            </a:r>
            <a:r>
              <a:rPr dirty="0" spc="5"/>
              <a:t> </a:t>
            </a:r>
            <a:r>
              <a:rPr dirty="0"/>
              <a:t>observational</a:t>
            </a:r>
            <a:r>
              <a:rPr dirty="0" spc="5"/>
              <a:t> </a:t>
            </a:r>
            <a:r>
              <a:rPr dirty="0"/>
              <a:t>study,”</a:t>
            </a:r>
            <a:r>
              <a:rPr dirty="0" spc="5"/>
              <a:t> </a:t>
            </a:r>
            <a:r>
              <a:rPr dirty="0"/>
              <a:t>Lancet,</a:t>
            </a:r>
            <a:r>
              <a:rPr dirty="0" spc="5"/>
              <a:t> </a:t>
            </a:r>
            <a:r>
              <a:rPr dirty="0"/>
              <a:t>vol.</a:t>
            </a:r>
            <a:r>
              <a:rPr dirty="0" spc="5"/>
              <a:t> </a:t>
            </a:r>
            <a:r>
              <a:rPr dirty="0"/>
              <a:t>365,</a:t>
            </a:r>
            <a:r>
              <a:rPr dirty="0" spc="10"/>
              <a:t> </a:t>
            </a:r>
            <a:r>
              <a:rPr dirty="0"/>
              <a:t>no.</a:t>
            </a:r>
            <a:r>
              <a:rPr dirty="0" spc="5"/>
              <a:t> </a:t>
            </a:r>
            <a:r>
              <a:rPr dirty="0"/>
              <a:t>9464,</a:t>
            </a:r>
            <a:r>
              <a:rPr dirty="0" spc="5"/>
              <a:t> </a:t>
            </a:r>
            <a:r>
              <a:rPr dirty="0" spc="-25"/>
              <a:t>pp. </a:t>
            </a:r>
            <a:r>
              <a:rPr dirty="0"/>
              <a:t>1046–1053,</a:t>
            </a:r>
            <a:r>
              <a:rPr dirty="0" spc="65"/>
              <a:t> </a:t>
            </a:r>
            <a:r>
              <a:rPr dirty="0" spc="-20"/>
              <a:t>2005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M_10_RANDOM FOREST BASED WEARABLE WRISTBAND FOR OVERNIGHT SLEEP  APNEA MONITORING USING PPG AND MOTION SENSING.pptx</dc:title>
  <dcterms:created xsi:type="dcterms:W3CDTF">2026-06-16T13:00:51Z</dcterms:created>
  <dcterms:modified xsi:type="dcterms:W3CDTF">2026-06-16T13:00:51Z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2026-06-16T00:00:00Z</vt:filetime>
  </property>
  <property fmtid="{D5CDD505-2E9C-101B-9397-08002B2CF9AE}" pid="4" name="Creator">
    <vt:lpwstr>Google</vt:lpwstr>
  </property>
  <property fmtid="{D5CDD505-2E9C-101B-9397-08002B2CF9AE}" pid="5" name="LastSaved">
    <vt:filetime>2026-06-16T00:00:00Z</vt:filetime>
  </property>
</Properties>
</file>